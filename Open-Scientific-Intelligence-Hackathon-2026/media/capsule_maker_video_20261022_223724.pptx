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GB" sz="1800" spc="-1" strike="noStrike">
                <a:solidFill>
                  <a:schemeClr val="dk1"/>
                </a:solidFill>
                <a:latin typeface="Aptos"/>
              </a:rPr>
              <a:t>Click to move the slide</a:t>
            </a:r>
            <a:endParaRPr b="0" lang="en-GB" sz="1800" spc="-1" strike="noStrike">
              <a:solidFill>
                <a:schemeClr val="dk1"/>
              </a:solidFill>
              <a:latin typeface="Aptos"/>
            </a:endParaRPr>
          </a:p>
        </p:txBody>
      </p:sp>
      <p:sp>
        <p:nvSpPr>
          <p:cNvPr id="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Click to edit the notes format</a:t>
            </a:r>
            <a:endParaRPr b="0" lang="en-GB" sz="2000" spc="-1" strike="noStrike">
              <a:solidFill>
                <a:srgbClr val="000000"/>
              </a:solidFill>
              <a:latin typeface="Arial"/>
            </a:endParaRPr>
          </a:p>
        </p:txBody>
      </p:sp>
      <p:sp>
        <p:nvSpPr>
          <p:cNvPr id="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GB" sz="1400" spc="-1" strike="noStrike">
                <a:solidFill>
                  <a:srgbClr val="000000"/>
                </a:solidFill>
                <a:latin typeface="Times New Roman"/>
              </a:rPr>
              <a:t>&lt;header&gt;</a:t>
            </a:r>
            <a:endParaRPr b="0" lang="en-GB" sz="1400" spc="-1" strike="noStrike">
              <a:solidFill>
                <a:srgbClr val="000000"/>
              </a:solidFill>
              <a:latin typeface="Times New Roman"/>
            </a:endParaRPr>
          </a:p>
        </p:txBody>
      </p:sp>
      <p:sp>
        <p:nvSpPr>
          <p:cNvPr id="10"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GB" sz="1400" spc="-1" strike="noStrike">
                <a:solidFill>
                  <a:srgbClr val="000000"/>
                </a:solidFill>
                <a:latin typeface="Times New Roman"/>
              </a:defRPr>
            </a:lvl1pPr>
          </a:lstStyle>
          <a:p>
            <a:pPr indent="0" algn="r">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
        <p:nvSpPr>
          <p:cNvPr id="11"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12"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BD6DFF69-7685-4ECE-94CA-863356588897}"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1143000" y="685800"/>
            <a:ext cx="4571640" cy="3428640"/>
          </a:xfrm>
          <a:prstGeom prst="rect">
            <a:avLst/>
          </a:prstGeom>
          <a:ln w="0">
            <a:noFill/>
          </a:ln>
        </p:spPr>
      </p:sp>
      <p:sp>
        <p:nvSpPr>
          <p:cNvPr id="242" name="PlaceHolder 2"/>
          <p:cNvSpPr>
            <a:spLocks noGrp="1"/>
          </p:cNvSpPr>
          <p:nvPr>
            <p:ph type="body"/>
          </p:nvPr>
        </p:nvSpPr>
        <p:spPr>
          <a:xfrm>
            <a:off x="685800" y="4343400"/>
            <a:ext cx="5486040" cy="4114440"/>
          </a:xfrm>
          <a:prstGeom prst="rect">
            <a:avLst/>
          </a:prstGeom>
          <a:noFill/>
          <a:ln w="0">
            <a:noFill/>
          </a:ln>
        </p:spPr>
        <p:txBody>
          <a:bodyPr lIns="90000" rIns="90000" tIns="45000" bIns="45000" anchor="t">
            <a:noAutofit/>
          </a:bodyPr>
          <a:p>
            <a:pPr marL="216000" indent="0">
              <a:lnSpc>
                <a:spcPct val="100000"/>
              </a:lnSpc>
              <a:buNone/>
            </a:pPr>
            <a:r>
              <a:rPr b="0" lang="en-GB" sz="2000" spc="-1" strike="noStrike">
                <a:solidFill>
                  <a:srgbClr val="000000"/>
                </a:solidFill>
                <a:latin typeface="Arial"/>
              </a:rPr>
              <a:t>An AI agent can use scientific software through tools such as MCP servers. But a research session produces something else: knowledge about the work. A researcher may spend hours preparing a calculation and correcting a failed approach. The next agent needs to know why we made each choice. A fresh conversation does not automatically carry that context. It must also distinguish a tested result from an idea that still needs checking. Capsule-Maker packages the research knowledge with its supporting files, so another researcher or agent can continue the study. We tested this idea on the electronic structure of a photocatalytic peptide.</a:t>
            </a:r>
            <a:endParaRPr b="0" lang="en-GB" sz="2000" spc="-1" strike="noStrike">
              <a:solidFill>
                <a:srgbClr val="000000"/>
              </a:solidFill>
              <a:latin typeface="Arial"/>
            </a:endParaRPr>
          </a:p>
          <a:p>
            <a:pPr marL="216000" indent="0">
              <a:lnSpc>
                <a:spcPct val="100000"/>
              </a:lnSpc>
              <a:buNone/>
            </a:pPr>
            <a:endParaRPr b="0" lang="en-GB"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Production note, not for narration: the puzzle is an illustration. The four tool labels are illustrative; they are not interchangeable components, and not all four were active in every test.</a:t>
            </a:r>
            <a:endParaRPr b="0" lang="en-GB"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1143000" y="685800"/>
            <a:ext cx="4571640" cy="3428640"/>
          </a:xfrm>
          <a:prstGeom prst="rect">
            <a:avLst/>
          </a:prstGeom>
          <a:ln w="0">
            <a:noFill/>
          </a:ln>
        </p:spPr>
      </p:sp>
      <p:sp>
        <p:nvSpPr>
          <p:cNvPr id="244" name="PlaceHolder 2"/>
          <p:cNvSpPr>
            <a:spLocks noGrp="1"/>
          </p:cNvSpPr>
          <p:nvPr>
            <p:ph type="body"/>
          </p:nvPr>
        </p:nvSpPr>
        <p:spPr>
          <a:xfrm>
            <a:off x="685800" y="4343400"/>
            <a:ext cx="5486040" cy="4114440"/>
          </a:xfrm>
          <a:prstGeom prst="rect">
            <a:avLst/>
          </a:prstGeom>
          <a:noFill/>
          <a:ln w="0">
            <a:noFill/>
          </a:ln>
        </p:spPr>
        <p:txBody>
          <a:bodyPr lIns="90000" rIns="90000" tIns="45000" bIns="45000" anchor="t">
            <a:noAutofit/>
          </a:bodyPr>
          <a:p>
            <a:pPr marL="216000" indent="0">
              <a:lnSpc>
                <a:spcPct val="100000"/>
              </a:lnSpc>
              <a:buNone/>
            </a:pPr>
            <a:r>
              <a:rPr b="0" lang="en-GB" sz="2000" spc="-1" strike="noStrike">
                <a:solidFill>
                  <a:srgbClr val="000000"/>
                </a:solidFill>
                <a:latin typeface="Arial"/>
              </a:rPr>
              <a:t>A time capsule preserves information for someone who will open it later. Our research capsule does the same for a scientific investigation. The researcher selects what matters: the knowledge records, the evidence behind them, the procedures and decisions, and the supporting files. Capsule-Maker packages them into an inspectable directory, which can be exported as a ZIP file, and Git can version its files. Before anything is handed over, the researcher reviews the capsule and approves it. Another agent can then import the package and resume the work. Capsule-Maker offers a command-line tool, an Agent Skill and an MCP interface. For this handover we used the command line. Retrieval can be automatic, but the scientific content still needs a person to curate it.</a:t>
            </a:r>
            <a:endParaRPr b="0" lang="en-GB" sz="2000" spc="-1" strike="noStrike">
              <a:solidFill>
                <a:srgbClr val="000000"/>
              </a:solidFill>
              <a:latin typeface="Arial"/>
            </a:endParaRPr>
          </a:p>
          <a:p>
            <a:pPr marL="216000" indent="0">
              <a:lnSpc>
                <a:spcPct val="100000"/>
              </a:lnSpc>
              <a:buNone/>
            </a:pPr>
            <a:endParaRPr b="0" lang="en-GB"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Production note, not for narration: the capsule is an illustration. Not every capsule is a Git repository; the parent link in C2 is a separate mechanism. No Capsule-Maker MCP server drove these sessions.</a:t>
            </a:r>
            <a:endParaRPr b="0" lang="en-GB"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1143000" y="685800"/>
            <a:ext cx="4571640" cy="3428640"/>
          </a:xfrm>
          <a:prstGeom prst="rect">
            <a:avLst/>
          </a:prstGeom>
          <a:ln w="0">
            <a:noFill/>
          </a:ln>
        </p:spPr>
      </p:sp>
      <p:sp>
        <p:nvSpPr>
          <p:cNvPr id="246" name="PlaceHolder 2"/>
          <p:cNvSpPr>
            <a:spLocks noGrp="1"/>
          </p:cNvSpPr>
          <p:nvPr>
            <p:ph type="body"/>
          </p:nvPr>
        </p:nvSpPr>
        <p:spPr>
          <a:xfrm>
            <a:off x="685800" y="4343400"/>
            <a:ext cx="5486040" cy="4114440"/>
          </a:xfrm>
          <a:prstGeom prst="rect">
            <a:avLst/>
          </a:prstGeom>
          <a:noFill/>
          <a:ln w="0">
            <a:noFill/>
          </a:ln>
        </p:spPr>
        <p:txBody>
          <a:bodyPr lIns="90000" rIns="90000" tIns="45000" bIns="45000" anchor="t">
            <a:noAutofit/>
          </a:bodyPr>
          <a:p>
            <a:pPr marL="216000" indent="0">
              <a:lnSpc>
                <a:spcPct val="100000"/>
              </a:lnSpc>
              <a:buNone/>
            </a:pPr>
            <a:r>
              <a:rPr b="0" lang="en-GB" sz="2000" spc="-1" strike="noStrike">
                <a:solidFill>
                  <a:srgbClr val="000000"/>
                </a:solidFill>
                <a:latin typeface="Arial"/>
              </a:rPr>
              <a:t>Our test case comes from Irle and colleagues, published in Nature Synthesis on the twelfth of October 2026. They report an experimental triplet energy of 269 kilojoules per mole for a photocatalytic peptide, 6a. The computational task is to investigate its electronic structure and reproduce that quantity with an appropriate theoretical model. Each tool had a clear role. Paper2Agent supplied a skill built from the paper. BigDFT supplied the electronic-structure methods. LARA-HPC supplied the validation-first principle, with dry-run input checks. Capsule-Maker carried the research from one session to the next. The first capsule, C1, holds 63 records in 1.187 megabytes. We gave it to two different environments: Claude Code with Opus, and OpenCode with a local Qwen model. The local session also used a small runtime capsule, so it used two capsules together. In the researcher's thioxanthone calibration, both agents generated the same parsed inputs and obtained the same triplet gap: 241.21 kilojoules per mole.</a:t>
            </a:r>
            <a:endParaRPr b="0" lang="en-GB" sz="2000" spc="-1" strike="noStrike">
              <a:solidFill>
                <a:srgbClr val="000000"/>
              </a:solidFill>
              <a:latin typeface="Arial"/>
            </a:endParaRPr>
          </a:p>
          <a:p>
            <a:pPr marL="216000" indent="0">
              <a:lnSpc>
                <a:spcPct val="100000"/>
              </a:lnSpc>
              <a:buNone/>
            </a:pPr>
            <a:endParaRPr b="0" lang="en-GB"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Production note, not for narration: 241.21 kJ/mol is the thioxanthone calibration, not the peptide result. Capsule combination means two capsules used together, not an automatic merge. Versions: Claude Code 2.1.308 with Opus 5.5; the OpenCode and Qwen versions still need to be confirmed. Timing and token figures stay out of the slide; different tokenizers and cache accounting prevent a clean efficiency ranking.</a:t>
            </a:r>
            <a:endParaRPr b="0" lang="en-GB"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1143000" y="685800"/>
            <a:ext cx="4571640" cy="3428640"/>
          </a:xfrm>
          <a:prstGeom prst="rect">
            <a:avLst/>
          </a:prstGeom>
          <a:ln w="0">
            <a:noFill/>
          </a:ln>
        </p:spPr>
      </p:sp>
      <p:sp>
        <p:nvSpPr>
          <p:cNvPr id="248" name="PlaceHolder 2"/>
          <p:cNvSpPr>
            <a:spLocks noGrp="1"/>
          </p:cNvSpPr>
          <p:nvPr>
            <p:ph type="body"/>
          </p:nvPr>
        </p:nvSpPr>
        <p:spPr>
          <a:xfrm>
            <a:off x="685800" y="4343400"/>
            <a:ext cx="5486040" cy="4114440"/>
          </a:xfrm>
          <a:prstGeom prst="rect">
            <a:avLst/>
          </a:prstGeom>
          <a:noFill/>
          <a:ln w="0">
            <a:noFill/>
          </a:ln>
        </p:spPr>
        <p:txBody>
          <a:bodyPr lIns="90000" rIns="90000" tIns="45000" bIns="45000" anchor="t">
            <a:noAutofit/>
          </a:bodyPr>
          <a:p>
            <a:pPr marL="216000" indent="0">
              <a:lnSpc>
                <a:spcPct val="100000"/>
              </a:lnSpc>
              <a:buNone/>
            </a:pPr>
            <a:r>
              <a:rPr b="0" lang="en-GB" sz="2000" spc="-1" strike="noStrike">
                <a:solidFill>
                  <a:srgbClr val="000000"/>
                </a:solidFill>
                <a:latin typeface="Arial"/>
              </a:rPr>
              <a:t>Transfer is only the start. The agents also had to build on the work. Both began from the same 24 PBE input pairs, byte for byte. The local Qwen session created six new PBE0 inputs from C1. Claude used the same physical model at the shared grid, then added iteration controls and, later, restart support. Claude also wrote what it learned into a descendant capsule, C2. C2 holds 88 records: the 63 from C1 plus 25 additions. It keeps its parent's files and records why an inherited grid decision was replaced. That growth is a history of research knowledge, not a score for the model. The PBE0 calculations are now running on HPC, and we will report the result once it has been checked. Capsule-Maker is open source on GitHub. Thank you from the whole team.</a:t>
            </a:r>
            <a:endParaRPr b="0" lang="en-GB" sz="2000" spc="-1" strike="noStrike">
              <a:solidFill>
                <a:srgbClr val="000000"/>
              </a:solidFill>
              <a:latin typeface="Arial"/>
            </a:endParaRPr>
          </a:p>
          <a:p>
            <a:pPr marL="216000" indent="0">
              <a:lnSpc>
                <a:spcPct val="100000"/>
              </a:lnSpc>
              <a:buNone/>
            </a:pPr>
            <a:endParaRPr b="0" lang="en-GB"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Production note, not for narration: before inserting the PBE0 value, check the functional, the geometry pair and SCF convergence; keep "vertical" or "frozen backbone" labels where they apply, and do not claim experimental agreement before that check. Optional spoken reference: the existing constrained PBE result is 227.05 kJ/mol. Full affiliations and the contact email belong in the accompanying one-page summary.</a:t>
            </a:r>
            <a:endParaRPr b="0" lang="en-GB"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sule_maker_video — 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A1B23B8-496D-4153-B52D-D0BD04D40AC4}" type="slidenum">
              <a:t>&lt;#&gt;</a:t>
            </a:fld>
          </a:p>
        </p:txBody>
      </p:sp>
      <p:sp>
        <p:nvSpPr>
          <p:cNvPr id="4" name="PlaceHolder 3"/>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apsule_maker_video — Blank">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Aptos"/>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DF41B70-C354-4E18-B257-C0FD1541BB58}" type="slidenum">
              <a:t>&lt;#&gt;</a:t>
            </a:fld>
          </a:p>
        </p:txBody>
      </p:sp>
      <p:sp>
        <p:nvSpPr>
          <p:cNvPr id="6" name="PlaceHolder 5"/>
          <p:cNvSpPr>
            <a:spLocks noGrp="1"/>
          </p:cNvSpPr>
          <p:nvPr>
            <p:ph type="dt" idx="1"/>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6f1"/>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Aptos"/>
                <a:ea typeface="Microsoft YaHei"/>
              </a:defRPr>
            </a:lvl1pPr>
          </a:lstStyle>
          <a:p>
            <a:pPr indent="0" defTabSz="457200">
              <a:lnSpc>
                <a:spcPct val="100000"/>
              </a:lnSpc>
              <a:buNone/>
            </a:pPr>
            <a:r>
              <a:rPr b="0" lang="en-GB" sz="1200" spc="-1" strike="noStrike">
                <a:solidFill>
                  <a:schemeClr val="dk1">
                    <a:tint val="75000"/>
                  </a:schemeClr>
                </a:solidFill>
                <a:latin typeface="Aptos"/>
                <a:ea typeface="Microsoft YaHei"/>
              </a:rPr>
              <a:t>&lt;date/time&gt;</a:t>
            </a:r>
            <a:endParaRPr b="0" lang="en-GB" sz="1200" spc="-1" strike="noStrike">
              <a:solidFill>
                <a:srgbClr val="000000"/>
              </a:solidFill>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Aptos"/>
                <a:ea typeface="Microsoft YaHei"/>
              </a:defRPr>
            </a:lvl1pPr>
          </a:lstStyle>
          <a:p>
            <a:pPr indent="0" algn="r" defTabSz="457200">
              <a:lnSpc>
                <a:spcPct val="100000"/>
              </a:lnSpc>
              <a:buNone/>
            </a:pPr>
            <a:fld id="{20B7BCFF-11BA-40D2-AD04-241AADFAAE74}" type="slidenum">
              <a:rPr b="0" lang="en-GB" sz="1200" spc="-1" strike="noStrike">
                <a:solidFill>
                  <a:schemeClr val="dk1">
                    <a:tint val="75000"/>
                  </a:schemeClr>
                </a:solidFill>
                <a:latin typeface="Aptos"/>
                <a:ea typeface="Microsoft YaHei"/>
              </a:rPr>
              <a:t>&lt;number&gt;</a:t>
            </a:fld>
            <a:endParaRPr b="0" lang="en-GB" sz="1200" spc="-1" strike="noStrike">
              <a:solidFill>
                <a:srgbClr val="000000"/>
              </a:solidFill>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GB" sz="1800" spc="-1" strike="noStrike">
                <a:solidFill>
                  <a:schemeClr val="dk1"/>
                </a:solidFill>
                <a:latin typeface="Aptos"/>
              </a:rPr>
              <a:t>Click to edit the title text format</a:t>
            </a:r>
            <a:endParaRPr b="0" lang="en-GB" sz="1800" spc="-1" strike="noStrike">
              <a:solidFill>
                <a:schemeClr val="dk1"/>
              </a:solidFill>
              <a:latin typeface="Aptos"/>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2400" spc="-1" strike="noStrike">
                <a:solidFill>
                  <a:schemeClr val="dk1"/>
                </a:solidFill>
                <a:latin typeface="Aptos"/>
              </a:rPr>
              <a:t>Click to edit the outline text format</a:t>
            </a:r>
            <a:endParaRPr b="0" lang="en-GB" sz="2400" spc="-1" strike="noStrike">
              <a:solidFill>
                <a:schemeClr val="dk1"/>
              </a:solidFill>
              <a:latin typeface="Aptos"/>
            </a:endParaRPr>
          </a:p>
          <a:p>
            <a:pPr lvl="1" marL="864000" indent="-324000">
              <a:spcBef>
                <a:spcPts val="1134"/>
              </a:spcBef>
              <a:buClr>
                <a:srgbClr val="000000"/>
              </a:buClr>
              <a:buSzPct val="75000"/>
              <a:buFont typeface="Symbol" charset="2"/>
              <a:buChar char=""/>
            </a:pPr>
            <a:r>
              <a:rPr b="0" lang="en-GB" sz="2100" spc="-1" strike="noStrike">
                <a:solidFill>
                  <a:schemeClr val="dk1"/>
                </a:solidFill>
                <a:latin typeface="Aptos"/>
              </a:rPr>
              <a:t>Second Outline Level</a:t>
            </a:r>
            <a:endParaRPr b="0" lang="en-GB" sz="2100" spc="-1" strike="noStrike">
              <a:solidFill>
                <a:schemeClr val="dk1"/>
              </a:solidFill>
              <a:latin typeface="Aptos"/>
            </a:endParaRPr>
          </a:p>
          <a:p>
            <a:pPr lvl="2" marL="1296000" indent="-288000">
              <a:spcBef>
                <a:spcPts val="850"/>
              </a:spcBef>
              <a:buClr>
                <a:srgbClr val="000000"/>
              </a:buClr>
              <a:buSzPct val="45000"/>
              <a:buFont typeface="Wingdings" charset="2"/>
              <a:buChar char=""/>
            </a:pPr>
            <a:r>
              <a:rPr b="0" lang="en-GB" sz="1950" spc="-1" strike="noStrike">
                <a:solidFill>
                  <a:schemeClr val="dk1"/>
                </a:solidFill>
                <a:latin typeface="Aptos"/>
              </a:rPr>
              <a:t>Third Outline Level</a:t>
            </a:r>
            <a:endParaRPr b="0" lang="en-GB" sz="1950" spc="-1" strike="noStrike">
              <a:solidFill>
                <a:schemeClr val="dk1"/>
              </a:solidFill>
              <a:latin typeface="Aptos"/>
            </a:endParaRPr>
          </a:p>
          <a:p>
            <a:pPr lvl="3" marL="1728000" indent="-216000">
              <a:spcBef>
                <a:spcPts val="567"/>
              </a:spcBef>
              <a:buClr>
                <a:srgbClr val="000000"/>
              </a:buClr>
              <a:buSzPct val="75000"/>
              <a:buFont typeface="Symbol" charset="2"/>
              <a:buChar char=""/>
            </a:pPr>
            <a:r>
              <a:rPr b="0" lang="en-GB" sz="1800" spc="-1" strike="noStrike">
                <a:solidFill>
                  <a:schemeClr val="dk1"/>
                </a:solidFill>
                <a:latin typeface="Aptos"/>
              </a:rPr>
              <a:t>Fourth Outline Level</a:t>
            </a:r>
            <a:endParaRPr b="0" lang="en-GB" sz="1800" spc="-1" strike="noStrike">
              <a:solidFill>
                <a:schemeClr val="dk1"/>
              </a:solidFill>
              <a:latin typeface="Aptos"/>
            </a:endParaRPr>
          </a:p>
          <a:p>
            <a:pPr lvl="4" marL="2160000" indent="-216000">
              <a:spcBef>
                <a:spcPts val="283"/>
              </a:spcBef>
              <a:buClr>
                <a:srgbClr val="000000"/>
              </a:buClr>
              <a:buSzPct val="45000"/>
              <a:buFont typeface="Wingdings" charset="2"/>
              <a:buChar char=""/>
            </a:pPr>
            <a:r>
              <a:rPr b="0" lang="en-GB" sz="2000" spc="-1" strike="noStrike">
                <a:solidFill>
                  <a:schemeClr val="dk1"/>
                </a:solidFill>
                <a:latin typeface="Aptos"/>
              </a:rPr>
              <a:t>Fifth Outline Level</a:t>
            </a:r>
            <a:endParaRPr b="0" lang="en-GB" sz="2000" spc="-1" strike="noStrike">
              <a:solidFill>
                <a:schemeClr val="dk1"/>
              </a:solidFill>
              <a:latin typeface="Aptos"/>
            </a:endParaRPr>
          </a:p>
          <a:p>
            <a:pPr lvl="5" marL="2592000" indent="-216000">
              <a:spcBef>
                <a:spcPts val="283"/>
              </a:spcBef>
              <a:buClr>
                <a:srgbClr val="000000"/>
              </a:buClr>
              <a:buSzPct val="45000"/>
              <a:buFont typeface="Wingdings" charset="2"/>
              <a:buChar char=""/>
            </a:pPr>
            <a:r>
              <a:rPr b="0" lang="en-GB" sz="2000" spc="-1" strike="noStrike">
                <a:solidFill>
                  <a:schemeClr val="dk1"/>
                </a:solidFill>
                <a:latin typeface="Aptos"/>
              </a:rPr>
              <a:t>Sixth Outline Level</a:t>
            </a:r>
            <a:endParaRPr b="0" lang="en-GB" sz="2000" spc="-1" strike="noStrike">
              <a:solidFill>
                <a:schemeClr val="dk1"/>
              </a:solidFill>
              <a:latin typeface="Aptos"/>
            </a:endParaRPr>
          </a:p>
          <a:p>
            <a:pPr lvl="6" marL="3024000" indent="-216000">
              <a:spcBef>
                <a:spcPts val="283"/>
              </a:spcBef>
              <a:buClr>
                <a:srgbClr val="000000"/>
              </a:buClr>
              <a:buSzPct val="45000"/>
              <a:buFont typeface="Wingdings" charset="2"/>
              <a:buChar char=""/>
            </a:pPr>
            <a:r>
              <a:rPr b="0" lang="en-GB" sz="2000" spc="-1" strike="noStrike">
                <a:solidFill>
                  <a:schemeClr val="dk1"/>
                </a:solidFill>
                <a:latin typeface="Aptos"/>
              </a:rPr>
              <a:t>Seventh Outline Level</a:t>
            </a:r>
            <a:endParaRPr b="0" lang="en-GB"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hyperlink" Target="https://github.com/BigDFT-group/capsule-maker" TargetMode="External"/><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6f1"/>
        </a:solidFill>
      </p:bgPr>
    </p:bg>
    <p:spTree>
      <p:nvGrpSpPr>
        <p:cNvPr id="1" name=""/>
        <p:cNvGrpSpPr/>
        <p:nvPr/>
      </p:nvGrpSpPr>
      <p:grpSpPr>
        <a:xfrm>
          <a:off x="0" y="0"/>
          <a:ext cx="0" cy="0"/>
          <a:chOff x="0" y="0"/>
          <a:chExt cx="0" cy="0"/>
        </a:xfrm>
      </p:grpSpPr>
      <p:grpSp>
        <p:nvGrpSpPr>
          <p:cNvPr id="13" name="project-line"/>
          <p:cNvGrpSpPr/>
          <p:nvPr/>
        </p:nvGrpSpPr>
        <p:grpSpPr>
          <a:xfrm>
            <a:off x="1042560" y="412920"/>
            <a:ext cx="5761800" cy="274680"/>
            <a:chOff x="1042560" y="412920"/>
            <a:chExt cx="5761800" cy="274680"/>
          </a:xfrm>
        </p:grpSpPr>
        <p:sp>
          <p:nvSpPr>
            <p:cNvPr id="14" name="TextBox 9"/>
            <p:cNvSpPr/>
            <p:nvPr/>
          </p:nvSpPr>
          <p:spPr>
            <a:xfrm>
              <a:off x="1042560" y="412920"/>
              <a:ext cx="576180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accent5"/>
                  </a:solidFill>
                  <a:latin typeface="Aptos"/>
                  <a:ea typeface="Microsoft YaHei"/>
                </a:rPr>
                <a:t>Capsule-Maker: Making Scientific Knowledge Portable</a:t>
              </a:r>
              <a:endParaRPr b="0" lang="en-GB" sz="1800" spc="-1" strike="noStrike">
                <a:solidFill>
                  <a:srgbClr val="000000"/>
                </a:solidFill>
                <a:latin typeface="Arial"/>
              </a:endParaRPr>
            </a:p>
          </p:txBody>
        </p:sp>
      </p:grpSp>
      <p:grpSp>
        <p:nvGrpSpPr>
          <p:cNvPr id="15" name="title"/>
          <p:cNvGrpSpPr/>
          <p:nvPr/>
        </p:nvGrpSpPr>
        <p:grpSpPr>
          <a:xfrm>
            <a:off x="1139400" y="838080"/>
            <a:ext cx="9506160" cy="640440"/>
            <a:chOff x="1139400" y="838080"/>
            <a:chExt cx="9506160" cy="640440"/>
          </a:xfrm>
        </p:grpSpPr>
        <p:sp>
          <p:nvSpPr>
            <p:cNvPr id="16" name="TextBox 11"/>
            <p:cNvSpPr/>
            <p:nvPr/>
          </p:nvSpPr>
          <p:spPr>
            <a:xfrm>
              <a:off x="1139400" y="838080"/>
              <a:ext cx="9506160" cy="640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4200" spc="-1" strike="noStrike">
                  <a:solidFill>
                    <a:schemeClr val="dk1"/>
                  </a:solidFill>
                  <a:latin typeface="Aptos"/>
                  <a:ea typeface="Microsoft YaHei"/>
                </a:rPr>
                <a:t>The missing piece of the LLM puzzle</a:t>
              </a:r>
              <a:endParaRPr b="0" lang="en-GB" sz="4200" spc="-1" strike="noStrike">
                <a:solidFill>
                  <a:srgbClr val="000000"/>
                </a:solidFill>
                <a:latin typeface="Arial"/>
              </a:endParaRPr>
            </a:p>
          </p:txBody>
        </p:sp>
      </p:grpSp>
      <p:grpSp>
        <p:nvGrpSpPr>
          <p:cNvPr id="17" name="knowledge-piece"/>
          <p:cNvGrpSpPr/>
          <p:nvPr/>
        </p:nvGrpSpPr>
        <p:grpSpPr>
          <a:xfrm>
            <a:off x="8593560" y="3203640"/>
            <a:ext cx="3140280" cy="1946880"/>
            <a:chOff x="8593560" y="3203640"/>
            <a:chExt cx="3140280" cy="1946880"/>
          </a:xfrm>
        </p:grpSpPr>
        <p:grpSp>
          <p:nvGrpSpPr>
            <p:cNvPr id="18" name="Group 33"/>
            <p:cNvGrpSpPr/>
            <p:nvPr/>
          </p:nvGrpSpPr>
          <p:grpSpPr>
            <a:xfrm>
              <a:off x="8593560" y="3203640"/>
              <a:ext cx="3140280" cy="1946880"/>
              <a:chOff x="8593560" y="3203640"/>
              <a:chExt cx="3140280" cy="1946880"/>
            </a:xfrm>
          </p:grpSpPr>
          <p:sp>
            <p:nvSpPr>
              <p:cNvPr id="19" name="Freeform 31"/>
              <p:cNvSpPr/>
              <p:nvPr/>
            </p:nvSpPr>
            <p:spPr>
              <a:xfrm>
                <a:off x="8677080" y="3271680"/>
                <a:ext cx="3056760" cy="1878840"/>
              </a:xfrm>
              <a:custGeom>
                <a:avLst/>
                <a:gdLst>
                  <a:gd name="textAreaLeft" fmla="*/ 0 w 3056760"/>
                  <a:gd name="textAreaRight" fmla="*/ 3057120 w 3056760"/>
                  <a:gd name="textAreaTop" fmla="*/ 0 h 1878840"/>
                  <a:gd name="textAreaBottom" fmla="*/ 1879200 h 1878840"/>
                </a:gdLst>
                <a:ahLst/>
                <a:rect l="textAreaLeft" t="textAreaTop" r="textAreaRight" b="textAreaBottom"/>
                <a:pathLst>
                  <a:path w="3057046" h="1879201">
                    <a:moveTo>
                      <a:pt x="330127" y="268821"/>
                    </a:moveTo>
                    <a:lnTo>
                      <a:pt x="1466865" y="149345"/>
                    </a:lnTo>
                    <a:cubicBezTo>
                      <a:pt x="1543131" y="237104"/>
                      <a:pt x="1307761" y="549166"/>
                      <a:pt x="1650774" y="532269"/>
                    </a:cubicBezTo>
                    <a:cubicBezTo>
                      <a:pt x="1989805" y="477481"/>
                      <a:pt x="1694697" y="221174"/>
                      <a:pt x="1751050" y="119476"/>
                    </a:cubicBezTo>
                    <a:lnTo>
                      <a:pt x="2887788" y="0"/>
                    </a:lnTo>
                    <a:lnTo>
                      <a:pt x="3057046" y="1610380"/>
                    </a:lnTo>
                    <a:lnTo>
                      <a:pt x="499385" y="1879201"/>
                    </a:lnTo>
                    <a:lnTo>
                      <a:pt x="429690" y="1216103"/>
                    </a:lnTo>
                    <a:cubicBezTo>
                      <a:pt x="327993" y="1159750"/>
                      <a:pt x="71686" y="1454858"/>
                      <a:pt x="16897" y="1115827"/>
                    </a:cubicBezTo>
                    <a:cubicBezTo>
                      <a:pt x="0" y="772815"/>
                      <a:pt x="312062" y="1008185"/>
                      <a:pt x="399821" y="931919"/>
                    </a:cubicBezTo>
                    <a:lnTo>
                      <a:pt x="330127" y="268821"/>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 name="Freeform 32"/>
              <p:cNvSpPr/>
              <p:nvPr/>
            </p:nvSpPr>
            <p:spPr>
              <a:xfrm>
                <a:off x="8593560" y="3203640"/>
                <a:ext cx="3056760" cy="1878840"/>
              </a:xfrm>
              <a:custGeom>
                <a:avLst/>
                <a:gdLst>
                  <a:gd name="textAreaLeft" fmla="*/ 0 w 3056760"/>
                  <a:gd name="textAreaRight" fmla="*/ 3057120 w 3056760"/>
                  <a:gd name="textAreaTop" fmla="*/ 0 h 1878840"/>
                  <a:gd name="textAreaBottom" fmla="*/ 1879200 h 1878840"/>
                </a:gdLst>
                <a:ahLst/>
                <a:rect l="textAreaLeft" t="textAreaTop" r="textAreaRight" b="textAreaBottom"/>
                <a:pathLst>
                  <a:path w="3057046" h="1879201">
                    <a:moveTo>
                      <a:pt x="330127" y="268821"/>
                    </a:moveTo>
                    <a:lnTo>
                      <a:pt x="1466865" y="149345"/>
                    </a:lnTo>
                    <a:cubicBezTo>
                      <a:pt x="1543131" y="237104"/>
                      <a:pt x="1307761" y="549166"/>
                      <a:pt x="1650774" y="532269"/>
                    </a:cubicBezTo>
                    <a:cubicBezTo>
                      <a:pt x="1989805" y="477481"/>
                      <a:pt x="1694697" y="221174"/>
                      <a:pt x="1751050" y="119476"/>
                    </a:cubicBezTo>
                    <a:lnTo>
                      <a:pt x="2887788" y="0"/>
                    </a:lnTo>
                    <a:lnTo>
                      <a:pt x="3057046" y="1610380"/>
                    </a:lnTo>
                    <a:lnTo>
                      <a:pt x="499385" y="1879201"/>
                    </a:lnTo>
                    <a:lnTo>
                      <a:pt x="429690" y="1216103"/>
                    </a:lnTo>
                    <a:cubicBezTo>
                      <a:pt x="327993" y="1159750"/>
                      <a:pt x="71686" y="1454858"/>
                      <a:pt x="16897" y="1115827"/>
                    </a:cubicBezTo>
                    <a:cubicBezTo>
                      <a:pt x="0" y="772815"/>
                      <a:pt x="312062" y="1008185"/>
                      <a:pt x="399821" y="931919"/>
                    </a:cubicBezTo>
                    <a:lnTo>
                      <a:pt x="330127" y="268821"/>
                    </a:lnTo>
                    <a:close/>
                  </a:path>
                </a:pathLst>
              </a:custGeom>
              <a:solidFill>
                <a:schemeClr val="accent2"/>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grpSp>
      </p:grpSp>
      <p:grpSp>
        <p:nvGrpSpPr>
          <p:cNvPr id="21" name="Group 17"/>
          <p:cNvGrpSpPr/>
          <p:nvPr/>
        </p:nvGrpSpPr>
        <p:grpSpPr>
          <a:xfrm>
            <a:off x="838080" y="1981080"/>
            <a:ext cx="7715160" cy="3238200"/>
            <a:chOff x="838080" y="1981080"/>
            <a:chExt cx="7715160" cy="3238200"/>
          </a:xfrm>
        </p:grpSpPr>
        <p:sp>
          <p:nvSpPr>
            <p:cNvPr id="22" name="Freeform 13"/>
            <p:cNvSpPr/>
            <p:nvPr/>
          </p:nvSpPr>
          <p:spPr>
            <a:xfrm>
              <a:off x="838080" y="1981080"/>
              <a:ext cx="2971440" cy="1618920"/>
            </a:xfrm>
            <a:custGeom>
              <a:avLst/>
              <a:gdLst>
                <a:gd name="textAreaLeft" fmla="*/ 0 w 2971440"/>
                <a:gd name="textAreaRight" fmla="*/ 2971800 w 2971440"/>
                <a:gd name="textAreaTop" fmla="*/ 0 h 1618920"/>
                <a:gd name="textAreaBottom" fmla="*/ 1619280 h 1618920"/>
              </a:gdLst>
              <a:ahLst/>
              <a:rect l="textAreaLeft" t="textAreaTop" r="textAreaRight" b="textAreaBottom"/>
              <a:pathLst>
                <a:path w="2971800" h="1619250">
                  <a:moveTo>
                    <a:pt x="0" y="0"/>
                  </a:moveTo>
                  <a:lnTo>
                    <a:pt x="2571750" y="0"/>
                  </a:lnTo>
                  <a:lnTo>
                    <a:pt x="2571750" y="666750"/>
                  </a:lnTo>
                  <a:cubicBezTo>
                    <a:pt x="2667000" y="733425"/>
                    <a:pt x="2952750" y="466725"/>
                    <a:pt x="2971800" y="809625"/>
                  </a:cubicBezTo>
                  <a:cubicBezTo>
                    <a:pt x="2952750" y="1152525"/>
                    <a:pt x="2667000" y="885825"/>
                    <a:pt x="2571750" y="952500"/>
                  </a:cubicBezTo>
                  <a:lnTo>
                    <a:pt x="2571750" y="1619250"/>
                  </a:lnTo>
                  <a:lnTo>
                    <a:pt x="1428750" y="1619250"/>
                  </a:lnTo>
                  <a:cubicBezTo>
                    <a:pt x="1362075" y="1524000"/>
                    <a:pt x="1628775" y="1238250"/>
                    <a:pt x="1285875" y="1219200"/>
                  </a:cubicBezTo>
                  <a:cubicBezTo>
                    <a:pt x="942975" y="1238250"/>
                    <a:pt x="1209675" y="1524000"/>
                    <a:pt x="1143000" y="1619250"/>
                  </a:cubicBezTo>
                  <a:lnTo>
                    <a:pt x="0" y="1619250"/>
                  </a:lnTo>
                  <a:lnTo>
                    <a:pt x="0" y="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 name="Freeform 14"/>
            <p:cNvSpPr/>
            <p:nvPr/>
          </p:nvSpPr>
          <p:spPr>
            <a:xfrm>
              <a:off x="3409920" y="1981080"/>
              <a:ext cx="2571480" cy="2018880"/>
            </a:xfrm>
            <a:custGeom>
              <a:avLst/>
              <a:gdLst>
                <a:gd name="textAreaLeft" fmla="*/ 0 w 2571480"/>
                <a:gd name="textAreaRight" fmla="*/ 2571840 w 2571480"/>
                <a:gd name="textAreaTop" fmla="*/ 0 h 2018880"/>
                <a:gd name="textAreaBottom" fmla="*/ 2019240 h 2018880"/>
              </a:gdLst>
              <a:ahLst/>
              <a:rect l="textAreaLeft" t="textAreaTop" r="textAreaRight" b="textAreaBottom"/>
              <a:pathLst>
                <a:path w="2571750" h="2019300">
                  <a:moveTo>
                    <a:pt x="0" y="0"/>
                  </a:moveTo>
                  <a:lnTo>
                    <a:pt x="2571750" y="0"/>
                  </a:lnTo>
                  <a:lnTo>
                    <a:pt x="2571750" y="666750"/>
                  </a:lnTo>
                  <a:cubicBezTo>
                    <a:pt x="2476500" y="733425"/>
                    <a:pt x="2190750" y="466725"/>
                    <a:pt x="2171700" y="809625"/>
                  </a:cubicBezTo>
                  <a:cubicBezTo>
                    <a:pt x="2190750" y="1152525"/>
                    <a:pt x="2476500" y="885825"/>
                    <a:pt x="2571750" y="952500"/>
                  </a:cubicBezTo>
                  <a:lnTo>
                    <a:pt x="2571750" y="1619250"/>
                  </a:lnTo>
                  <a:lnTo>
                    <a:pt x="1428750" y="1619250"/>
                  </a:lnTo>
                  <a:cubicBezTo>
                    <a:pt x="1362075" y="1714500"/>
                    <a:pt x="1628775" y="2000250"/>
                    <a:pt x="1285875" y="2019300"/>
                  </a:cubicBezTo>
                  <a:cubicBezTo>
                    <a:pt x="942975" y="2000250"/>
                    <a:pt x="1209675" y="1714500"/>
                    <a:pt x="1143000" y="1619250"/>
                  </a:cubicBezTo>
                  <a:lnTo>
                    <a:pt x="0" y="1619250"/>
                  </a:lnTo>
                  <a:lnTo>
                    <a:pt x="0" y="952500"/>
                  </a:lnTo>
                  <a:cubicBezTo>
                    <a:pt x="95250" y="885825"/>
                    <a:pt x="381000" y="1152525"/>
                    <a:pt x="400050" y="809625"/>
                  </a:cubicBezTo>
                  <a:cubicBezTo>
                    <a:pt x="381000" y="466725"/>
                    <a:pt x="95250" y="733425"/>
                    <a:pt x="0" y="666750"/>
                  </a:cubicBezTo>
                  <a:lnTo>
                    <a:pt x="0" y="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4" name="Freeform 15"/>
            <p:cNvSpPr/>
            <p:nvPr/>
          </p:nvSpPr>
          <p:spPr>
            <a:xfrm>
              <a:off x="5581800" y="1981080"/>
              <a:ext cx="2971440" cy="1618920"/>
            </a:xfrm>
            <a:custGeom>
              <a:avLst/>
              <a:gdLst>
                <a:gd name="textAreaLeft" fmla="*/ 0 w 2971440"/>
                <a:gd name="textAreaRight" fmla="*/ 2971800 w 2971440"/>
                <a:gd name="textAreaTop" fmla="*/ 0 h 1618920"/>
                <a:gd name="textAreaBottom" fmla="*/ 1619280 h 1618920"/>
              </a:gdLst>
              <a:ahLst/>
              <a:rect l="textAreaLeft" t="textAreaTop" r="textAreaRight" b="textAreaBottom"/>
              <a:pathLst>
                <a:path w="2971800" h="1619250">
                  <a:moveTo>
                    <a:pt x="400050" y="0"/>
                  </a:moveTo>
                  <a:lnTo>
                    <a:pt x="2971800" y="0"/>
                  </a:lnTo>
                  <a:lnTo>
                    <a:pt x="2971800" y="1619250"/>
                  </a:lnTo>
                  <a:lnTo>
                    <a:pt x="400050" y="1619250"/>
                  </a:lnTo>
                  <a:lnTo>
                    <a:pt x="400050" y="952500"/>
                  </a:lnTo>
                  <a:cubicBezTo>
                    <a:pt x="304800" y="885825"/>
                    <a:pt x="19050" y="1152525"/>
                    <a:pt x="0" y="809625"/>
                  </a:cubicBezTo>
                  <a:cubicBezTo>
                    <a:pt x="19050" y="466725"/>
                    <a:pt x="304800" y="733425"/>
                    <a:pt x="400050" y="666750"/>
                  </a:cubicBezTo>
                  <a:lnTo>
                    <a:pt x="400050" y="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5" name="Freeform 16"/>
            <p:cNvSpPr/>
            <p:nvPr/>
          </p:nvSpPr>
          <p:spPr>
            <a:xfrm>
              <a:off x="838080" y="3200400"/>
              <a:ext cx="2571480" cy="2018880"/>
            </a:xfrm>
            <a:custGeom>
              <a:avLst/>
              <a:gdLst>
                <a:gd name="textAreaLeft" fmla="*/ 0 w 2571480"/>
                <a:gd name="textAreaRight" fmla="*/ 2571840 w 2571480"/>
                <a:gd name="textAreaTop" fmla="*/ 0 h 2018880"/>
                <a:gd name="textAreaBottom" fmla="*/ 2019240 h 2018880"/>
              </a:gdLst>
              <a:ahLst/>
              <a:rect l="textAreaLeft" t="textAreaTop" r="textAreaRight" b="textAreaBottom"/>
              <a:pathLst>
                <a:path w="2571750" h="2019300">
                  <a:moveTo>
                    <a:pt x="0" y="400050"/>
                  </a:moveTo>
                  <a:lnTo>
                    <a:pt x="1143000" y="400050"/>
                  </a:lnTo>
                  <a:cubicBezTo>
                    <a:pt x="1209675" y="304800"/>
                    <a:pt x="942975" y="19050"/>
                    <a:pt x="1285875" y="0"/>
                  </a:cubicBezTo>
                  <a:cubicBezTo>
                    <a:pt x="1628775" y="19050"/>
                    <a:pt x="1362075" y="304800"/>
                    <a:pt x="1428750" y="400050"/>
                  </a:cubicBezTo>
                  <a:lnTo>
                    <a:pt x="2571750" y="400050"/>
                  </a:lnTo>
                  <a:lnTo>
                    <a:pt x="2571750" y="1066800"/>
                  </a:lnTo>
                  <a:cubicBezTo>
                    <a:pt x="2476500" y="1133475"/>
                    <a:pt x="2190750" y="866775"/>
                    <a:pt x="2171700" y="1209675"/>
                  </a:cubicBezTo>
                  <a:cubicBezTo>
                    <a:pt x="2190750" y="1552575"/>
                    <a:pt x="2476500" y="1285875"/>
                    <a:pt x="2571750" y="1352550"/>
                  </a:cubicBezTo>
                  <a:lnTo>
                    <a:pt x="2571750" y="2019300"/>
                  </a:lnTo>
                  <a:lnTo>
                    <a:pt x="0" y="2019300"/>
                  </a:lnTo>
                  <a:lnTo>
                    <a:pt x="0" y="40005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grpSp>
      <p:sp>
        <p:nvSpPr>
          <p:cNvPr id="26" name="Freeform 18"/>
          <p:cNvSpPr/>
          <p:nvPr/>
        </p:nvSpPr>
        <p:spPr>
          <a:xfrm>
            <a:off x="2933640" y="3524400"/>
            <a:ext cx="2971440" cy="1618920"/>
          </a:xfrm>
          <a:custGeom>
            <a:avLst/>
            <a:gdLst>
              <a:gd name="textAreaLeft" fmla="*/ 0 w 2971440"/>
              <a:gd name="textAreaRight" fmla="*/ 2971800 w 2971440"/>
              <a:gd name="textAreaTop" fmla="*/ 0 h 1618920"/>
              <a:gd name="textAreaBottom" fmla="*/ 1619280 h 1618920"/>
            </a:gdLst>
            <a:ahLst/>
            <a:rect l="textAreaLeft" t="textAreaTop" r="textAreaRight" b="textAreaBottom"/>
            <a:pathLst>
              <a:path w="2971800" h="1619250">
                <a:moveTo>
                  <a:pt x="400050" y="0"/>
                </a:moveTo>
                <a:lnTo>
                  <a:pt x="1543050" y="0"/>
                </a:lnTo>
                <a:cubicBezTo>
                  <a:pt x="1609725" y="95250"/>
                  <a:pt x="1343025" y="381000"/>
                  <a:pt x="1685925" y="400050"/>
                </a:cubicBezTo>
                <a:cubicBezTo>
                  <a:pt x="2028825" y="381000"/>
                  <a:pt x="1762125" y="95250"/>
                  <a:pt x="1828800" y="0"/>
                </a:cubicBezTo>
                <a:lnTo>
                  <a:pt x="2971800" y="0"/>
                </a:lnTo>
                <a:lnTo>
                  <a:pt x="2971800" y="1619250"/>
                </a:lnTo>
                <a:lnTo>
                  <a:pt x="400050" y="1619250"/>
                </a:lnTo>
                <a:lnTo>
                  <a:pt x="400050" y="952500"/>
                </a:lnTo>
                <a:cubicBezTo>
                  <a:pt x="304800" y="885825"/>
                  <a:pt x="19050" y="1152525"/>
                  <a:pt x="0" y="809625"/>
                </a:cubicBezTo>
                <a:cubicBezTo>
                  <a:pt x="19050" y="466725"/>
                  <a:pt x="304800" y="733425"/>
                  <a:pt x="400050" y="666750"/>
                </a:cubicBezTo>
                <a:lnTo>
                  <a:pt x="400050" y="0"/>
                </a:lnTo>
                <a:close/>
              </a:path>
            </a:pathLst>
          </a:custGeom>
          <a:solidFill>
            <a:schemeClr val="lt2"/>
          </a:solidFill>
          <a:ln w="28440">
            <a:solidFill>
              <a:schemeClr val="accent1"/>
            </a:solidFill>
            <a:custDash>
              <a:ds d="333000" sp="266000"/>
            </a:custDash>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nvGrpSpPr>
          <p:cNvPr id="27" name="Group 23"/>
          <p:cNvGrpSpPr/>
          <p:nvPr/>
        </p:nvGrpSpPr>
        <p:grpSpPr>
          <a:xfrm>
            <a:off x="762120" y="1905120"/>
            <a:ext cx="7714800" cy="3237840"/>
            <a:chOff x="762120" y="1905120"/>
            <a:chExt cx="7714800" cy="3237840"/>
          </a:xfrm>
        </p:grpSpPr>
        <p:sp>
          <p:nvSpPr>
            <p:cNvPr id="28" name="Freeform 19"/>
            <p:cNvSpPr/>
            <p:nvPr/>
          </p:nvSpPr>
          <p:spPr>
            <a:xfrm>
              <a:off x="762120" y="1905120"/>
              <a:ext cx="2971440" cy="1618920"/>
            </a:xfrm>
            <a:custGeom>
              <a:avLst/>
              <a:gdLst>
                <a:gd name="textAreaLeft" fmla="*/ 0 w 2971440"/>
                <a:gd name="textAreaRight" fmla="*/ 2971800 w 2971440"/>
                <a:gd name="textAreaTop" fmla="*/ 0 h 1618920"/>
                <a:gd name="textAreaBottom" fmla="*/ 1619280 h 1618920"/>
              </a:gdLst>
              <a:ahLst/>
              <a:rect l="textAreaLeft" t="textAreaTop" r="textAreaRight" b="textAreaBottom"/>
              <a:pathLst>
                <a:path w="2971800" h="1619250">
                  <a:moveTo>
                    <a:pt x="0" y="0"/>
                  </a:moveTo>
                  <a:lnTo>
                    <a:pt x="2571750" y="0"/>
                  </a:lnTo>
                  <a:lnTo>
                    <a:pt x="2571750" y="666750"/>
                  </a:lnTo>
                  <a:cubicBezTo>
                    <a:pt x="2667000" y="733425"/>
                    <a:pt x="2952750" y="466725"/>
                    <a:pt x="2971800" y="809625"/>
                  </a:cubicBezTo>
                  <a:cubicBezTo>
                    <a:pt x="2952750" y="1152525"/>
                    <a:pt x="2667000" y="885825"/>
                    <a:pt x="2571750" y="952500"/>
                  </a:cubicBezTo>
                  <a:lnTo>
                    <a:pt x="2571750" y="1619250"/>
                  </a:lnTo>
                  <a:lnTo>
                    <a:pt x="1428750" y="1619250"/>
                  </a:lnTo>
                  <a:cubicBezTo>
                    <a:pt x="1362075" y="1524000"/>
                    <a:pt x="1628775" y="1238250"/>
                    <a:pt x="1285875" y="1219200"/>
                  </a:cubicBezTo>
                  <a:cubicBezTo>
                    <a:pt x="942975" y="1238250"/>
                    <a:pt x="1209675" y="1524000"/>
                    <a:pt x="1143000" y="1619250"/>
                  </a:cubicBezTo>
                  <a:lnTo>
                    <a:pt x="0" y="1619250"/>
                  </a:lnTo>
                  <a:lnTo>
                    <a:pt x="0" y="0"/>
                  </a:lnTo>
                  <a:close/>
                </a:path>
              </a:pathLst>
            </a:custGeom>
            <a:solidFill>
              <a:schemeClr val="accent3"/>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9" name="Freeform 20"/>
            <p:cNvSpPr/>
            <p:nvPr/>
          </p:nvSpPr>
          <p:spPr>
            <a:xfrm>
              <a:off x="3333600" y="1905120"/>
              <a:ext cx="2571480" cy="2018880"/>
            </a:xfrm>
            <a:custGeom>
              <a:avLst/>
              <a:gdLst>
                <a:gd name="textAreaLeft" fmla="*/ 0 w 2571480"/>
                <a:gd name="textAreaRight" fmla="*/ 2571840 w 2571480"/>
                <a:gd name="textAreaTop" fmla="*/ 0 h 2018880"/>
                <a:gd name="textAreaBottom" fmla="*/ 2019240 h 2018880"/>
              </a:gdLst>
              <a:ahLst/>
              <a:rect l="textAreaLeft" t="textAreaTop" r="textAreaRight" b="textAreaBottom"/>
              <a:pathLst>
                <a:path w="2571750" h="2019300">
                  <a:moveTo>
                    <a:pt x="0" y="0"/>
                  </a:moveTo>
                  <a:lnTo>
                    <a:pt x="2571750" y="0"/>
                  </a:lnTo>
                  <a:lnTo>
                    <a:pt x="2571750" y="666750"/>
                  </a:lnTo>
                  <a:cubicBezTo>
                    <a:pt x="2476500" y="733425"/>
                    <a:pt x="2190750" y="466725"/>
                    <a:pt x="2171700" y="809625"/>
                  </a:cubicBezTo>
                  <a:cubicBezTo>
                    <a:pt x="2190750" y="1152525"/>
                    <a:pt x="2476500" y="885825"/>
                    <a:pt x="2571750" y="952500"/>
                  </a:cubicBezTo>
                  <a:lnTo>
                    <a:pt x="2571750" y="1619250"/>
                  </a:lnTo>
                  <a:lnTo>
                    <a:pt x="1428750" y="1619250"/>
                  </a:lnTo>
                  <a:cubicBezTo>
                    <a:pt x="1362075" y="1714500"/>
                    <a:pt x="1628775" y="2000250"/>
                    <a:pt x="1285875" y="2019300"/>
                  </a:cubicBezTo>
                  <a:cubicBezTo>
                    <a:pt x="942975" y="2000250"/>
                    <a:pt x="1209675" y="1714500"/>
                    <a:pt x="1143000" y="1619250"/>
                  </a:cubicBezTo>
                  <a:lnTo>
                    <a:pt x="0" y="1619250"/>
                  </a:lnTo>
                  <a:lnTo>
                    <a:pt x="0" y="952500"/>
                  </a:lnTo>
                  <a:cubicBezTo>
                    <a:pt x="95250" y="885825"/>
                    <a:pt x="381000" y="1152525"/>
                    <a:pt x="400050" y="809625"/>
                  </a:cubicBezTo>
                  <a:cubicBezTo>
                    <a:pt x="381000" y="466725"/>
                    <a:pt x="95250" y="733425"/>
                    <a:pt x="0" y="666750"/>
                  </a:cubicBezTo>
                  <a:lnTo>
                    <a:pt x="0" y="0"/>
                  </a:lnTo>
                  <a:close/>
                </a:path>
              </a:pathLst>
            </a:custGeom>
            <a:solidFill>
              <a:schemeClr val="accent3"/>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30" name="Freeform 21"/>
            <p:cNvSpPr/>
            <p:nvPr/>
          </p:nvSpPr>
          <p:spPr>
            <a:xfrm>
              <a:off x="5505480" y="1905120"/>
              <a:ext cx="2971440" cy="1618920"/>
            </a:xfrm>
            <a:custGeom>
              <a:avLst/>
              <a:gdLst>
                <a:gd name="textAreaLeft" fmla="*/ 0 w 2971440"/>
                <a:gd name="textAreaRight" fmla="*/ 2971800 w 2971440"/>
                <a:gd name="textAreaTop" fmla="*/ 0 h 1618920"/>
                <a:gd name="textAreaBottom" fmla="*/ 1619280 h 1618920"/>
              </a:gdLst>
              <a:ahLst/>
              <a:rect l="textAreaLeft" t="textAreaTop" r="textAreaRight" b="textAreaBottom"/>
              <a:pathLst>
                <a:path w="2971800" h="1619250">
                  <a:moveTo>
                    <a:pt x="400050" y="0"/>
                  </a:moveTo>
                  <a:lnTo>
                    <a:pt x="2971800" y="0"/>
                  </a:lnTo>
                  <a:lnTo>
                    <a:pt x="2971800" y="1619250"/>
                  </a:lnTo>
                  <a:lnTo>
                    <a:pt x="400050" y="1619250"/>
                  </a:lnTo>
                  <a:lnTo>
                    <a:pt x="400050" y="952500"/>
                  </a:lnTo>
                  <a:cubicBezTo>
                    <a:pt x="304800" y="885825"/>
                    <a:pt x="19050" y="1152525"/>
                    <a:pt x="0" y="809625"/>
                  </a:cubicBezTo>
                  <a:cubicBezTo>
                    <a:pt x="19050" y="466725"/>
                    <a:pt x="304800" y="733425"/>
                    <a:pt x="400050" y="666750"/>
                  </a:cubicBezTo>
                  <a:lnTo>
                    <a:pt x="400050" y="0"/>
                  </a:lnTo>
                  <a:close/>
                </a:path>
              </a:pathLst>
            </a:custGeom>
            <a:solidFill>
              <a:schemeClr val="accent3"/>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31" name="Freeform 22"/>
            <p:cNvSpPr/>
            <p:nvPr/>
          </p:nvSpPr>
          <p:spPr>
            <a:xfrm>
              <a:off x="762120" y="3124080"/>
              <a:ext cx="2571480" cy="2018880"/>
            </a:xfrm>
            <a:custGeom>
              <a:avLst/>
              <a:gdLst>
                <a:gd name="textAreaLeft" fmla="*/ 0 w 2571480"/>
                <a:gd name="textAreaRight" fmla="*/ 2571840 w 2571480"/>
                <a:gd name="textAreaTop" fmla="*/ 0 h 2018880"/>
                <a:gd name="textAreaBottom" fmla="*/ 2019240 h 2018880"/>
              </a:gdLst>
              <a:ahLst/>
              <a:rect l="textAreaLeft" t="textAreaTop" r="textAreaRight" b="textAreaBottom"/>
              <a:pathLst>
                <a:path w="2571750" h="2019300">
                  <a:moveTo>
                    <a:pt x="0" y="400050"/>
                  </a:moveTo>
                  <a:lnTo>
                    <a:pt x="1143000" y="400050"/>
                  </a:lnTo>
                  <a:cubicBezTo>
                    <a:pt x="1209675" y="304800"/>
                    <a:pt x="942975" y="19050"/>
                    <a:pt x="1285875" y="0"/>
                  </a:cubicBezTo>
                  <a:cubicBezTo>
                    <a:pt x="1628775" y="19050"/>
                    <a:pt x="1362075" y="304800"/>
                    <a:pt x="1428750" y="400050"/>
                  </a:cubicBezTo>
                  <a:lnTo>
                    <a:pt x="2571750" y="400050"/>
                  </a:lnTo>
                  <a:lnTo>
                    <a:pt x="2571750" y="1066800"/>
                  </a:lnTo>
                  <a:cubicBezTo>
                    <a:pt x="2476500" y="1133475"/>
                    <a:pt x="2190750" y="866775"/>
                    <a:pt x="2171700" y="1209675"/>
                  </a:cubicBezTo>
                  <a:cubicBezTo>
                    <a:pt x="2190750" y="1552575"/>
                    <a:pt x="2476500" y="1285875"/>
                    <a:pt x="2571750" y="1352550"/>
                  </a:cubicBezTo>
                  <a:lnTo>
                    <a:pt x="2571750" y="2019300"/>
                  </a:lnTo>
                  <a:lnTo>
                    <a:pt x="0" y="2019300"/>
                  </a:lnTo>
                  <a:lnTo>
                    <a:pt x="0" y="400050"/>
                  </a:lnTo>
                  <a:close/>
                </a:path>
              </a:pathLst>
            </a:custGeom>
            <a:solidFill>
              <a:schemeClr val="accent3"/>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grpSp>
        <p:nvGrpSpPr>
          <p:cNvPr id="32" name="Group 28"/>
          <p:cNvGrpSpPr/>
          <p:nvPr/>
        </p:nvGrpSpPr>
        <p:grpSpPr>
          <a:xfrm>
            <a:off x="1486080" y="2540160"/>
            <a:ext cx="6638400" cy="1985040"/>
            <a:chOff x="1486080" y="2540160"/>
            <a:chExt cx="6638400" cy="1985040"/>
          </a:xfrm>
        </p:grpSpPr>
        <p:sp>
          <p:nvSpPr>
            <p:cNvPr id="33" name="TextBox 24"/>
            <p:cNvSpPr/>
            <p:nvPr/>
          </p:nvSpPr>
          <p:spPr>
            <a:xfrm>
              <a:off x="1513800" y="2540160"/>
              <a:ext cx="1067760" cy="3661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2400" spc="-1" strike="noStrike">
                  <a:solidFill>
                    <a:schemeClr val="dk1"/>
                  </a:solidFill>
                  <a:latin typeface="Aptos"/>
                  <a:ea typeface="Microsoft YaHei"/>
                </a:rPr>
                <a:t>Agents</a:t>
              </a:r>
              <a:endParaRPr b="0" lang="en-GB" sz="2400" spc="-1" strike="noStrike">
                <a:solidFill>
                  <a:srgbClr val="000000"/>
                </a:solidFill>
                <a:latin typeface="Arial"/>
              </a:endParaRPr>
            </a:p>
          </p:txBody>
        </p:sp>
        <p:sp>
          <p:nvSpPr>
            <p:cNvPr id="34" name="TextBox 25"/>
            <p:cNvSpPr/>
            <p:nvPr/>
          </p:nvSpPr>
          <p:spPr>
            <a:xfrm>
              <a:off x="4225680" y="2540160"/>
              <a:ext cx="787320" cy="3661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2400" spc="-1" strike="noStrike">
                  <a:solidFill>
                    <a:schemeClr val="dk1"/>
                  </a:solidFill>
                  <a:latin typeface="Aptos"/>
                  <a:ea typeface="Microsoft YaHei"/>
                </a:rPr>
                <a:t>Skills</a:t>
              </a:r>
              <a:endParaRPr b="0" lang="en-GB" sz="2400" spc="-1" strike="noStrike">
                <a:solidFill>
                  <a:srgbClr val="000000"/>
                </a:solidFill>
                <a:latin typeface="Arial"/>
              </a:endParaRPr>
            </a:p>
          </p:txBody>
        </p:sp>
        <p:sp>
          <p:nvSpPr>
            <p:cNvPr id="35" name="TextBox 26"/>
            <p:cNvSpPr/>
            <p:nvPr/>
          </p:nvSpPr>
          <p:spPr>
            <a:xfrm>
              <a:off x="6257880" y="2540160"/>
              <a:ext cx="1866600" cy="3661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2400" spc="-1" strike="noStrike">
                  <a:solidFill>
                    <a:schemeClr val="dk1"/>
                  </a:solidFill>
                  <a:latin typeface="Aptos"/>
                  <a:ea typeface="Microsoft YaHei"/>
                </a:rPr>
                <a:t>MCP servers</a:t>
              </a:r>
              <a:endParaRPr b="0" lang="en-GB" sz="2400" spc="-1" strike="noStrike">
                <a:solidFill>
                  <a:srgbClr val="000000"/>
                </a:solidFill>
                <a:latin typeface="Arial"/>
              </a:endParaRPr>
            </a:p>
          </p:txBody>
        </p:sp>
        <p:sp>
          <p:nvSpPr>
            <p:cNvPr id="36" name="TextBox 27"/>
            <p:cNvSpPr/>
            <p:nvPr/>
          </p:nvSpPr>
          <p:spPr>
            <a:xfrm>
              <a:off x="1486080" y="4159080"/>
              <a:ext cx="1122840" cy="3661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2400" spc="-1" strike="noStrike">
                  <a:solidFill>
                    <a:schemeClr val="dk1"/>
                  </a:solidFill>
                  <a:latin typeface="Aptos"/>
                  <a:ea typeface="Microsoft YaHei"/>
                </a:rPr>
                <a:t>Plugins</a:t>
              </a:r>
              <a:endParaRPr b="0" lang="en-GB" sz="2400" spc="-1" strike="noStrike">
                <a:solidFill>
                  <a:srgbClr val="000000"/>
                </a:solidFill>
                <a:latin typeface="Arial"/>
              </a:endParaRPr>
            </a:p>
          </p:txBody>
        </p:sp>
      </p:grpSp>
      <p:sp>
        <p:nvSpPr>
          <p:cNvPr id="37" name="TextBox 29"/>
          <p:cNvSpPr/>
          <p:nvPr/>
        </p:nvSpPr>
        <p:spPr>
          <a:xfrm rot="21300000">
            <a:off x="9551880" y="3846240"/>
            <a:ext cx="1571040" cy="915120"/>
          </a:xfrm>
          <a:prstGeom prst="rect">
            <a:avLst/>
          </a:prstGeom>
          <a:noFill/>
          <a:ln w="0">
            <a:noFill/>
          </a:ln>
        </p:spPr>
        <p:style>
          <a:lnRef idx="0"/>
          <a:fillRef idx="0"/>
          <a:effectRef idx="0"/>
          <a:fontRef idx="minor"/>
        </p:style>
        <p:txBody>
          <a:bodyPr wrap="none" lIns="0" rIns="0" tIns="0" bIns="0" anchor="t">
            <a:spAutoFit/>
          </a:bodyPr>
          <a:p>
            <a:pPr algn="ctr" defTabSz="457200">
              <a:lnSpc>
                <a:spcPts val="2401"/>
              </a:lnSpc>
            </a:pPr>
            <a:r>
              <a:rPr b="1" lang="en-GB" sz="2250" spc="-1" strike="noStrike">
                <a:solidFill>
                  <a:schemeClr val="dk1"/>
                </a:solidFill>
                <a:latin typeface="Aptos"/>
                <a:ea typeface="Microsoft YaHei"/>
              </a:rPr>
              <a:t>Portable</a:t>
            </a:r>
            <a:br>
              <a:rPr sz="2250"/>
            </a:br>
            <a:r>
              <a:rPr b="1" lang="en-GB" sz="2250" spc="-1" strike="noStrike">
                <a:solidFill>
                  <a:schemeClr val="dk1"/>
                </a:solidFill>
                <a:latin typeface="Aptos"/>
                <a:ea typeface="Microsoft YaHei"/>
              </a:rPr>
              <a:t>research</a:t>
            </a:r>
            <a:br>
              <a:rPr sz="2250"/>
            </a:br>
            <a:r>
              <a:rPr b="1" lang="en-GB" sz="2250" spc="-1" strike="noStrike">
                <a:solidFill>
                  <a:schemeClr val="dk1"/>
                </a:solidFill>
                <a:latin typeface="Aptos"/>
                <a:ea typeface="Microsoft YaHei"/>
              </a:rPr>
              <a:t>knowledge</a:t>
            </a:r>
            <a:endParaRPr b="0" lang="en-GB" sz="2250" spc="-1" strike="noStrike">
              <a:solidFill>
                <a:srgbClr val="000000"/>
              </a:solidFill>
              <a:latin typeface="Arial"/>
            </a:endParaRPr>
          </a:p>
        </p:txBody>
      </p:sp>
      <p:grpSp>
        <p:nvGrpSpPr>
          <p:cNvPr id="38" name="question"/>
          <p:cNvGrpSpPr/>
          <p:nvPr/>
        </p:nvGrpSpPr>
        <p:grpSpPr>
          <a:xfrm>
            <a:off x="1045440" y="5581800"/>
            <a:ext cx="8078400" cy="503280"/>
            <a:chOff x="1045440" y="5581800"/>
            <a:chExt cx="8078400" cy="503280"/>
          </a:xfrm>
        </p:grpSpPr>
        <p:sp>
          <p:nvSpPr>
            <p:cNvPr id="39" name="TextBox 35"/>
            <p:cNvSpPr/>
            <p:nvPr/>
          </p:nvSpPr>
          <p:spPr>
            <a:xfrm>
              <a:off x="1045440" y="5581800"/>
              <a:ext cx="8078400" cy="503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3300" spc="-1" strike="noStrike">
                  <a:solidFill>
                    <a:schemeClr val="dk1"/>
                  </a:solidFill>
                  <a:latin typeface="Aptos"/>
                  <a:ea typeface="Microsoft YaHei"/>
                </a:rPr>
                <a:t>Can another agent continue the work?</a:t>
              </a:r>
              <a:endParaRPr b="0" lang="en-GB" sz="3300" spc="-1" strike="noStrike">
                <a:solidFill>
                  <a:srgbClr val="000000"/>
                </a:solidFill>
                <a:latin typeface="Arial"/>
              </a:endParaRPr>
            </a:p>
          </p:txBody>
        </p:sp>
      </p:grpSp>
    </p:spTree>
  </p:cSld>
  <mc:AlternateContent>
    <mc:Choice Requires="p14">
      <p:transition p14:dur="400">
        <p:fade/>
      </p:transition>
    </mc:Choice>
    <mc:Fallback>
      <p:transition>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17"/>
                                        </p:tgtEl>
                                        <p:attrNameLst>
                                          <p:attrName>style.visibility</p:attrName>
                                        </p:attrNameLst>
                                      </p:cBhvr>
                                      <p:to>
                                        <p:strVal val="visible"/>
                                      </p:to>
                                    </p:set>
                                    <p:animEffect filter="fade" transition="in">
                                      <p:cBhvr additive="repl">
                                        <p:cTn id="7" dur="600"/>
                                        <p:tgtEl>
                                          <p:spTgt spid="17"/>
                                        </p:tgtEl>
                                      </p:cBhvr>
                                    </p:animEffect>
                                  </p:childTnLst>
                                </p:cTn>
                              </p:par>
                              <p:par>
                                <p:cTn id="8" nodeType="withEffect" fill="hold" presetClass="entr" presetID="10">
                                  <p:stCondLst>
                                    <p:cond delay="0"/>
                                  </p:stCondLst>
                                  <p:childTnLst>
                                    <p:set>
                                      <p:cBhvr>
                                        <p:cTn id="9" dur="0" fill="hold">
                                          <p:stCondLst>
                                            <p:cond delay="0"/>
                                          </p:stCondLst>
                                        </p:cTn>
                                        <p:tgtEl>
                                          <p:spTgt spid="37"/>
                                        </p:tgtEl>
                                        <p:attrNameLst>
                                          <p:attrName>style.visibility</p:attrName>
                                        </p:attrNameLst>
                                      </p:cBhvr>
                                      <p:to>
                                        <p:strVal val="visible"/>
                                      </p:to>
                                    </p:set>
                                    <p:animEffect filter="fade" transition="in">
                                      <p:cBhvr additive="repl">
                                        <p:cTn id="10" dur="6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0">
                                  <p:stCondLst>
                                    <p:cond delay="0"/>
                                  </p:stCondLst>
                                  <p:childTnLst>
                                    <p:set>
                                      <p:cBhvr>
                                        <p:cTn id="14" dur="1" fill="hold">
                                          <p:stCondLst>
                                            <p:cond delay="0"/>
                                          </p:stCondLst>
                                        </p:cTn>
                                        <p:tgtEl>
                                          <p:spTgt spid="38"/>
                                        </p:tgtEl>
                                        <p:attrNameLst>
                                          <p:attrName>style.visibility</p:attrName>
                                        </p:attrNameLst>
                                      </p:cBhvr>
                                      <p:to>
                                        <p:strVal val="visible"/>
                                      </p:to>
                                    </p:set>
                                    <p:animEffect filter="fade" transition="in">
                                      <p:cBhvr additive="repl">
                                        <p:cTn id="15" dur="500"/>
                                        <p:tgtEl>
                                          <p:spTgt spid="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6f1"/>
        </a:solidFill>
      </p:bgPr>
    </p:bg>
    <p:spTree>
      <p:nvGrpSpPr>
        <p:cNvPr id="1" name=""/>
        <p:cNvGrpSpPr/>
        <p:nvPr/>
      </p:nvGrpSpPr>
      <p:grpSpPr>
        <a:xfrm>
          <a:off x="0" y="0"/>
          <a:ext cx="0" cy="0"/>
          <a:chOff x="0" y="0"/>
          <a:chExt cx="0" cy="0"/>
        </a:xfrm>
      </p:grpSpPr>
      <p:sp>
        <p:nvSpPr>
          <p:cNvPr id="40" name=""/>
          <p:cNvSpPr/>
          <p:nvPr/>
        </p:nvSpPr>
        <p:spPr>
          <a:xfrm rot="19800000">
            <a:off x="844200" y="1505520"/>
            <a:ext cx="2095200" cy="540000"/>
          </a:xfrm>
          <a:prstGeom prst="can">
            <a:avLst>
              <a:gd name="adj" fmla="val 50000"/>
            </a:avLst>
          </a:prstGeom>
          <a:solidFill>
            <a:srgbClr val="c8902e"/>
          </a:solidFill>
          <a:ln w="38160">
            <a:solidFill>
              <a:srgbClr val="1b2a4a"/>
            </a:solidFill>
            <a:round/>
          </a:ln>
        </p:spPr>
        <p:style>
          <a:lnRef idx="0"/>
          <a:fillRef idx="0"/>
          <a:effectRef idx="0"/>
          <a:fontRef idx="minor"/>
        </p:style>
        <p:txBody>
          <a:bodyPr lIns="108720" rIns="108720" tIns="63720" bIns="63720" anchor="ctr">
            <a:noAutofit/>
          </a:bodyPr>
          <a:p>
            <a:endParaRPr b="0" lang="en-GB" sz="1800" spc="-1" strike="noStrike">
              <a:solidFill>
                <a:srgbClr val="ffffff"/>
              </a:solidFill>
              <a:latin typeface="Arial"/>
            </a:endParaRPr>
          </a:p>
        </p:txBody>
      </p:sp>
      <p:grpSp>
        <p:nvGrpSpPr>
          <p:cNvPr id="41" name="title"/>
          <p:cNvGrpSpPr/>
          <p:nvPr/>
        </p:nvGrpSpPr>
        <p:grpSpPr>
          <a:xfrm>
            <a:off x="882360" y="533520"/>
            <a:ext cx="5833440" cy="640440"/>
            <a:chOff x="882360" y="533520"/>
            <a:chExt cx="5833440" cy="640440"/>
          </a:xfrm>
        </p:grpSpPr>
        <p:sp>
          <p:nvSpPr>
            <p:cNvPr id="42" name="TextBox 7"/>
            <p:cNvSpPr/>
            <p:nvPr/>
          </p:nvSpPr>
          <p:spPr>
            <a:xfrm>
              <a:off x="882360" y="533520"/>
              <a:ext cx="5833440" cy="640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4200" spc="-1" strike="noStrike">
                  <a:solidFill>
                    <a:schemeClr val="dk1"/>
                  </a:solidFill>
                  <a:latin typeface="Aptos"/>
                  <a:ea typeface="Microsoft YaHei"/>
                </a:rPr>
                <a:t>Capsule of knowledge</a:t>
              </a:r>
              <a:endParaRPr b="0" lang="en-GB" sz="4200" spc="-1" strike="noStrike">
                <a:solidFill>
                  <a:srgbClr val="000000"/>
                </a:solidFill>
                <a:latin typeface="Arial"/>
              </a:endParaRPr>
            </a:p>
          </p:txBody>
        </p:sp>
      </p:grpSp>
      <p:sp>
        <p:nvSpPr>
          <p:cNvPr id="43" name="Freeform 12"/>
          <p:cNvSpPr/>
          <p:nvPr/>
        </p:nvSpPr>
        <p:spPr>
          <a:xfrm>
            <a:off x="1733400" y="2495520"/>
            <a:ext cx="2095200" cy="2190240"/>
          </a:xfrm>
          <a:prstGeom prst="can">
            <a:avLst>
              <a:gd name="adj" fmla="val 25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44" name="Freeform 13"/>
          <p:cNvSpPr/>
          <p:nvPr/>
        </p:nvSpPr>
        <p:spPr>
          <a:xfrm>
            <a:off x="1656000" y="2412000"/>
            <a:ext cx="2095200" cy="2190240"/>
          </a:xfrm>
          <a:prstGeom prst="can">
            <a:avLst>
              <a:gd name="adj" fmla="val 25000"/>
            </a:avLst>
          </a:prstGeom>
          <a:solidFill>
            <a:schemeClr val="accent2"/>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grpSp>
        <p:nvGrpSpPr>
          <p:cNvPr id="45" name="Group 18"/>
          <p:cNvGrpSpPr/>
          <p:nvPr/>
        </p:nvGrpSpPr>
        <p:grpSpPr>
          <a:xfrm>
            <a:off x="1900080" y="1601640"/>
            <a:ext cx="1738080" cy="1210680"/>
            <a:chOff x="1900080" y="1601640"/>
            <a:chExt cx="1738080" cy="1210680"/>
          </a:xfrm>
        </p:grpSpPr>
        <p:sp>
          <p:nvSpPr>
            <p:cNvPr id="46" name="Rectangle 15"/>
            <p:cNvSpPr/>
            <p:nvPr/>
          </p:nvSpPr>
          <p:spPr>
            <a:xfrm rot="21000000">
              <a:off x="1980720" y="1771560"/>
              <a:ext cx="666360" cy="990360"/>
            </a:xfrm>
            <a:prstGeom prst="rect">
              <a:avLst/>
            </a:prstGeom>
            <a:solidFill>
              <a:srgbClr val="ffffff"/>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47" name="Rectangle 16"/>
            <p:cNvSpPr/>
            <p:nvPr/>
          </p:nvSpPr>
          <p:spPr>
            <a:xfrm rot="420000">
              <a:off x="2495520" y="1638000"/>
              <a:ext cx="666360" cy="1104480"/>
            </a:xfrm>
            <a:prstGeom prst="rect">
              <a:avLst/>
            </a:prstGeom>
            <a:solidFill>
              <a:srgbClr val="ffffff"/>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48" name="Rectangle 17"/>
            <p:cNvSpPr/>
            <p:nvPr/>
          </p:nvSpPr>
          <p:spPr>
            <a:xfrm rot="960000">
              <a:off x="3028680" y="1962000"/>
              <a:ext cx="514080" cy="761760"/>
            </a:xfrm>
            <a:prstGeom prst="roundRect">
              <a:avLst>
                <a:gd name="adj" fmla="val 7407"/>
              </a:avLst>
            </a:prstGeom>
            <a:solidFill>
              <a:schemeClr val="accent3"/>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grpSp>
        <p:nvGrpSpPr>
          <p:cNvPr id="49" name="Group 23"/>
          <p:cNvGrpSpPr/>
          <p:nvPr/>
        </p:nvGrpSpPr>
        <p:grpSpPr>
          <a:xfrm>
            <a:off x="2133720" y="1866960"/>
            <a:ext cx="875880" cy="304560"/>
            <a:chOff x="2133720" y="1866960"/>
            <a:chExt cx="875880" cy="304560"/>
          </a:xfrm>
        </p:grpSpPr>
        <p:sp>
          <p:nvSpPr>
            <p:cNvPr id="50" name="Line 19"/>
            <p:cNvSpPr/>
            <p:nvPr/>
          </p:nvSpPr>
          <p:spPr>
            <a:xfrm>
              <a:off x="2133720" y="1962000"/>
              <a:ext cx="361440" cy="56880"/>
            </a:xfrm>
            <a:custGeom>
              <a:avLst/>
              <a:gdLst>
                <a:gd name="textAreaLeft" fmla="*/ 0 w 361440"/>
                <a:gd name="textAreaRight" fmla="*/ 361800 w 361440"/>
                <a:gd name="textAreaTop" fmla="*/ 0 h 56880"/>
                <a:gd name="textAreaBottom" fmla="*/ 57240 h 56880"/>
              </a:gdLst>
              <a:ahLst/>
              <a:rect l="textAreaLeft" t="textAreaTop" r="textAreaRight" b="textAreaBottom"/>
              <a:pathLst>
                <a:path w="361950" h="57150">
                  <a:moveTo>
                    <a:pt x="0" y="57150"/>
                  </a:moveTo>
                  <a:lnTo>
                    <a:pt x="361950" y="0"/>
                  </a:lnTo>
                </a:path>
              </a:pathLst>
            </a:custGeom>
            <a:noFill/>
            <a:ln cap="rnd" w="28440">
              <a:solidFill>
                <a:schemeClr val="accent3"/>
              </a:solidFill>
              <a:round/>
            </a:ln>
          </p:spPr>
          <p:style>
            <a:lnRef idx="0"/>
            <a:fillRef idx="0"/>
            <a:effectRef idx="0"/>
            <a:fontRef idx="minor"/>
          </p:style>
          <p:txBody>
            <a:bodyPr lIns="90000" rIns="90000" tIns="12240" bIns="12240" anchor="t">
              <a:noAutofit/>
            </a:bodyPr>
            <a:p>
              <a:endParaRPr b="0" lang="en-GB" sz="1800" spc="-1" strike="noStrike">
                <a:solidFill>
                  <a:srgbClr val="000000"/>
                </a:solidFill>
                <a:latin typeface="Arial"/>
              </a:endParaRPr>
            </a:p>
          </p:txBody>
        </p:sp>
        <p:sp>
          <p:nvSpPr>
            <p:cNvPr id="51" name="Line 20"/>
            <p:cNvSpPr/>
            <p:nvPr/>
          </p:nvSpPr>
          <p:spPr>
            <a:xfrm>
              <a:off x="2152800" y="2114640"/>
              <a:ext cx="361440" cy="56880"/>
            </a:xfrm>
            <a:custGeom>
              <a:avLst/>
              <a:gdLst>
                <a:gd name="textAreaLeft" fmla="*/ 0 w 361440"/>
                <a:gd name="textAreaRight" fmla="*/ 361800 w 361440"/>
                <a:gd name="textAreaTop" fmla="*/ 0 h 56880"/>
                <a:gd name="textAreaBottom" fmla="*/ 57240 h 56880"/>
              </a:gdLst>
              <a:ahLst/>
              <a:rect l="textAreaLeft" t="textAreaTop" r="textAreaRight" b="textAreaBottom"/>
              <a:pathLst>
                <a:path w="361950" h="57150">
                  <a:moveTo>
                    <a:pt x="0" y="57150"/>
                  </a:moveTo>
                  <a:lnTo>
                    <a:pt x="361950" y="0"/>
                  </a:lnTo>
                </a:path>
              </a:pathLst>
            </a:custGeom>
            <a:noFill/>
            <a:ln cap="rnd" w="28440">
              <a:solidFill>
                <a:schemeClr val="accent3"/>
              </a:solidFill>
              <a:round/>
            </a:ln>
          </p:spPr>
          <p:style>
            <a:lnRef idx="0"/>
            <a:fillRef idx="0"/>
            <a:effectRef idx="0"/>
            <a:fontRef idx="minor"/>
          </p:style>
          <p:txBody>
            <a:bodyPr lIns="90000" rIns="90000" tIns="12240" bIns="12240" anchor="t">
              <a:noAutofit/>
            </a:bodyPr>
            <a:p>
              <a:endParaRPr b="0" lang="en-GB" sz="1800" spc="-1" strike="noStrike">
                <a:solidFill>
                  <a:srgbClr val="000000"/>
                </a:solidFill>
                <a:latin typeface="Arial"/>
              </a:endParaRPr>
            </a:p>
          </p:txBody>
        </p:sp>
        <p:sp>
          <p:nvSpPr>
            <p:cNvPr id="52" name="Line 21"/>
            <p:cNvSpPr/>
            <p:nvPr/>
          </p:nvSpPr>
          <p:spPr>
            <a:xfrm>
              <a:off x="2666880" y="1866960"/>
              <a:ext cx="342720" cy="37800"/>
            </a:xfrm>
            <a:custGeom>
              <a:avLst/>
              <a:gdLst>
                <a:gd name="textAreaLeft" fmla="*/ 0 w 342720"/>
                <a:gd name="textAreaRight" fmla="*/ 343080 w 342720"/>
                <a:gd name="textAreaTop" fmla="*/ 0 h 37800"/>
                <a:gd name="textAreaBottom" fmla="*/ 38160 h 37800"/>
              </a:gdLst>
              <a:ahLst/>
              <a:rect l="textAreaLeft" t="textAreaTop" r="textAreaRight" b="textAreaBottom"/>
              <a:pathLst>
                <a:path w="342900" h="38100">
                  <a:moveTo>
                    <a:pt x="0" y="0"/>
                  </a:moveTo>
                  <a:lnTo>
                    <a:pt x="342900" y="38100"/>
                  </a:lnTo>
                </a:path>
              </a:pathLst>
            </a:custGeom>
            <a:noFill/>
            <a:ln cap="rnd" w="28440">
              <a:solidFill>
                <a:schemeClr val="accent3"/>
              </a:solidFill>
              <a:round/>
            </a:ln>
          </p:spPr>
          <p:style>
            <a:lnRef idx="0"/>
            <a:fillRef idx="0"/>
            <a:effectRef idx="0"/>
            <a:fontRef idx="minor"/>
          </p:style>
          <p:txBody>
            <a:bodyPr lIns="90000" rIns="90000" tIns="-6840" bIns="-6840" anchor="t">
              <a:noAutofit/>
            </a:bodyPr>
            <a:p>
              <a:endParaRPr b="0" lang="en-GB" sz="1800" spc="-1" strike="noStrike">
                <a:solidFill>
                  <a:srgbClr val="000000"/>
                </a:solidFill>
                <a:latin typeface="Arial"/>
              </a:endParaRPr>
            </a:p>
          </p:txBody>
        </p:sp>
        <p:sp>
          <p:nvSpPr>
            <p:cNvPr id="53" name="Line 22"/>
            <p:cNvSpPr/>
            <p:nvPr/>
          </p:nvSpPr>
          <p:spPr>
            <a:xfrm>
              <a:off x="2647800" y="2019240"/>
              <a:ext cx="342720" cy="37800"/>
            </a:xfrm>
            <a:custGeom>
              <a:avLst/>
              <a:gdLst>
                <a:gd name="textAreaLeft" fmla="*/ 0 w 342720"/>
                <a:gd name="textAreaRight" fmla="*/ 343080 w 342720"/>
                <a:gd name="textAreaTop" fmla="*/ 0 h 37800"/>
                <a:gd name="textAreaBottom" fmla="*/ 38160 h 37800"/>
              </a:gdLst>
              <a:ahLst/>
              <a:rect l="textAreaLeft" t="textAreaTop" r="textAreaRight" b="textAreaBottom"/>
              <a:pathLst>
                <a:path w="342900" h="38100">
                  <a:moveTo>
                    <a:pt x="0" y="0"/>
                  </a:moveTo>
                  <a:lnTo>
                    <a:pt x="342900" y="38100"/>
                  </a:lnTo>
                </a:path>
              </a:pathLst>
            </a:custGeom>
            <a:noFill/>
            <a:ln cap="rnd" w="28440">
              <a:solidFill>
                <a:schemeClr val="accent3"/>
              </a:solidFill>
              <a:round/>
            </a:ln>
          </p:spPr>
          <p:style>
            <a:lnRef idx="0"/>
            <a:fillRef idx="0"/>
            <a:effectRef idx="0"/>
            <a:fontRef idx="minor"/>
          </p:style>
          <p:txBody>
            <a:bodyPr lIns="90000" rIns="90000" tIns="-6840" bIns="-6840" anchor="t">
              <a:noAutofit/>
            </a:bodyPr>
            <a:p>
              <a:endParaRPr b="0" lang="en-GB" sz="1800" spc="-1" strike="noStrike">
                <a:solidFill>
                  <a:srgbClr val="000000"/>
                </a:solidFill>
                <a:latin typeface="Arial"/>
              </a:endParaRPr>
            </a:p>
          </p:txBody>
        </p:sp>
      </p:grpSp>
      <p:sp>
        <p:nvSpPr>
          <p:cNvPr id="54" name="Freeform 24"/>
          <p:cNvSpPr/>
          <p:nvPr/>
        </p:nvSpPr>
        <p:spPr>
          <a:xfrm>
            <a:off x="2639520" y="2152800"/>
            <a:ext cx="789120" cy="380520"/>
          </a:xfrm>
          <a:custGeom>
            <a:avLst/>
            <a:gdLst>
              <a:gd name="textAreaLeft" fmla="*/ 0 w 789120"/>
              <a:gd name="textAreaRight" fmla="*/ 789480 w 789120"/>
              <a:gd name="textAreaTop" fmla="*/ 0 h 380520"/>
              <a:gd name="textAreaBottom" fmla="*/ 380880 h 380520"/>
            </a:gdLst>
            <a:ahLst/>
            <a:rect l="textAreaLeft" t="textAreaTop" r="textAreaRight" b="textAreaBottom"/>
            <a:pathLst>
              <a:path w="789622" h="381000">
                <a:moveTo>
                  <a:pt x="180022" y="0"/>
                </a:moveTo>
                <a:lnTo>
                  <a:pt x="420052" y="0"/>
                </a:lnTo>
                <a:cubicBezTo>
                  <a:pt x="450532" y="42862"/>
                  <a:pt x="330517" y="171450"/>
                  <a:pt x="484822" y="180023"/>
                </a:cubicBezTo>
                <a:cubicBezTo>
                  <a:pt x="639127" y="171450"/>
                  <a:pt x="519112" y="42862"/>
                  <a:pt x="549592" y="0"/>
                </a:cubicBezTo>
                <a:lnTo>
                  <a:pt x="789622" y="0"/>
                </a:lnTo>
                <a:lnTo>
                  <a:pt x="789622" y="381000"/>
                </a:lnTo>
                <a:lnTo>
                  <a:pt x="180022" y="381000"/>
                </a:lnTo>
                <a:lnTo>
                  <a:pt x="180022" y="255270"/>
                </a:lnTo>
                <a:cubicBezTo>
                  <a:pt x="137160" y="224790"/>
                  <a:pt x="8572" y="344805"/>
                  <a:pt x="0" y="190500"/>
                </a:cubicBezTo>
                <a:cubicBezTo>
                  <a:pt x="8572" y="36195"/>
                  <a:pt x="137160" y="156210"/>
                  <a:pt x="180022" y="125730"/>
                </a:cubicBezTo>
                <a:lnTo>
                  <a:pt x="180022" y="0"/>
                </a:lnTo>
                <a:close/>
              </a:path>
            </a:pathLst>
          </a:custGeom>
          <a:solidFill>
            <a:schemeClr val="accen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grpSp>
        <p:nvGrpSpPr>
          <p:cNvPr id="55" name="inside-capsule"/>
          <p:cNvGrpSpPr/>
          <p:nvPr/>
        </p:nvGrpSpPr>
        <p:grpSpPr>
          <a:xfrm>
            <a:off x="5143680" y="1308240"/>
            <a:ext cx="6495480" cy="1787040"/>
            <a:chOff x="5143680" y="1308240"/>
            <a:chExt cx="6495480" cy="1787040"/>
          </a:xfrm>
        </p:grpSpPr>
        <p:sp>
          <p:nvSpPr>
            <p:cNvPr id="56" name="TextBox 27"/>
            <p:cNvSpPr/>
            <p:nvPr/>
          </p:nvSpPr>
          <p:spPr>
            <a:xfrm>
              <a:off x="5209920" y="1308240"/>
              <a:ext cx="207540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accent5"/>
                  </a:solidFill>
                  <a:latin typeface="Aptos"/>
                  <a:ea typeface="Microsoft YaHei"/>
                </a:rPr>
                <a:t>Inside the capsule</a:t>
              </a:r>
              <a:endParaRPr b="0" lang="en-GB" sz="1800" spc="-1" strike="noStrike">
                <a:solidFill>
                  <a:srgbClr val="000000"/>
                </a:solidFill>
                <a:latin typeface="Arial"/>
              </a:endParaRPr>
            </a:p>
          </p:txBody>
        </p:sp>
        <p:grpSp>
          <p:nvGrpSpPr>
            <p:cNvPr id="57" name="Group 32"/>
            <p:cNvGrpSpPr/>
            <p:nvPr/>
          </p:nvGrpSpPr>
          <p:grpSpPr>
            <a:xfrm>
              <a:off x="5200560" y="1724040"/>
              <a:ext cx="6438600" cy="1371240"/>
              <a:chOff x="5200560" y="1724040"/>
              <a:chExt cx="6438600" cy="1371240"/>
            </a:xfrm>
          </p:grpSpPr>
          <p:sp>
            <p:nvSpPr>
              <p:cNvPr id="58" name="Rectangle 28"/>
              <p:cNvSpPr/>
              <p:nvPr/>
            </p:nvSpPr>
            <p:spPr>
              <a:xfrm>
                <a:off x="5200560" y="1724040"/>
                <a:ext cx="3142800" cy="609120"/>
              </a:xfrm>
              <a:prstGeom prst="roundRect">
                <a:avLst>
                  <a:gd name="adj" fmla="val 21875"/>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59" name="Rectangle 29"/>
              <p:cNvSpPr/>
              <p:nvPr/>
            </p:nvSpPr>
            <p:spPr>
              <a:xfrm>
                <a:off x="8496360" y="1724040"/>
                <a:ext cx="3142800" cy="609120"/>
              </a:xfrm>
              <a:prstGeom prst="roundRect">
                <a:avLst>
                  <a:gd name="adj" fmla="val 21875"/>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0" name="Rectangle 30"/>
              <p:cNvSpPr/>
              <p:nvPr/>
            </p:nvSpPr>
            <p:spPr>
              <a:xfrm>
                <a:off x="5200560" y="2486160"/>
                <a:ext cx="3142800" cy="609120"/>
              </a:xfrm>
              <a:prstGeom prst="roundRect">
                <a:avLst>
                  <a:gd name="adj" fmla="val 21875"/>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61" name="Rectangle 31"/>
              <p:cNvSpPr/>
              <p:nvPr/>
            </p:nvSpPr>
            <p:spPr>
              <a:xfrm>
                <a:off x="8496360" y="2486160"/>
                <a:ext cx="3142800" cy="609120"/>
              </a:xfrm>
              <a:prstGeom prst="roundRect">
                <a:avLst>
                  <a:gd name="adj" fmla="val 21875"/>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grpSp>
        <p:grpSp>
          <p:nvGrpSpPr>
            <p:cNvPr id="62" name="Group 37"/>
            <p:cNvGrpSpPr/>
            <p:nvPr/>
          </p:nvGrpSpPr>
          <p:grpSpPr>
            <a:xfrm>
              <a:off x="5143680" y="1666800"/>
              <a:ext cx="6438240" cy="1371240"/>
              <a:chOff x="5143680" y="1666800"/>
              <a:chExt cx="6438240" cy="1371240"/>
            </a:xfrm>
          </p:grpSpPr>
          <p:sp>
            <p:nvSpPr>
              <p:cNvPr id="63" name="Rectangle 33"/>
              <p:cNvSpPr/>
              <p:nvPr/>
            </p:nvSpPr>
            <p:spPr>
              <a:xfrm>
                <a:off x="5143680" y="1666800"/>
                <a:ext cx="3142800" cy="609120"/>
              </a:xfrm>
              <a:prstGeom prst="roundRect">
                <a:avLst>
                  <a:gd name="adj" fmla="val 21875"/>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64" name="Rectangle 34"/>
              <p:cNvSpPr/>
              <p:nvPr/>
            </p:nvSpPr>
            <p:spPr>
              <a:xfrm>
                <a:off x="8439120" y="1666800"/>
                <a:ext cx="3142800" cy="609120"/>
              </a:xfrm>
              <a:prstGeom prst="roundRect">
                <a:avLst>
                  <a:gd name="adj" fmla="val 21875"/>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65" name="Rectangle 35"/>
              <p:cNvSpPr/>
              <p:nvPr/>
            </p:nvSpPr>
            <p:spPr>
              <a:xfrm>
                <a:off x="5143680" y="2428920"/>
                <a:ext cx="3142800" cy="609120"/>
              </a:xfrm>
              <a:prstGeom prst="roundRect">
                <a:avLst>
                  <a:gd name="adj" fmla="val 21875"/>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66" name="Rectangle 36"/>
              <p:cNvSpPr/>
              <p:nvPr/>
            </p:nvSpPr>
            <p:spPr>
              <a:xfrm>
                <a:off x="8439120" y="2428920"/>
                <a:ext cx="3142800" cy="609120"/>
              </a:xfrm>
              <a:prstGeom prst="roundRect">
                <a:avLst>
                  <a:gd name="adj" fmla="val 21875"/>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grpSp>
          <p:nvGrpSpPr>
            <p:cNvPr id="67" name="Group 43"/>
            <p:cNvGrpSpPr/>
            <p:nvPr/>
          </p:nvGrpSpPr>
          <p:grpSpPr>
            <a:xfrm>
              <a:off x="5386320" y="1843200"/>
              <a:ext cx="199800" cy="256680"/>
              <a:chOff x="5386320" y="1843200"/>
              <a:chExt cx="199800" cy="256680"/>
            </a:xfrm>
          </p:grpSpPr>
          <p:sp>
            <p:nvSpPr>
              <p:cNvPr id="68" name="Freeform 38"/>
              <p:cNvSpPr/>
              <p:nvPr/>
            </p:nvSpPr>
            <p:spPr>
              <a:xfrm>
                <a:off x="5514840" y="1843200"/>
                <a:ext cx="70920" cy="70920"/>
              </a:xfrm>
              <a:custGeom>
                <a:avLst/>
                <a:gdLst>
                  <a:gd name="textAreaLeft" fmla="*/ 0 w 70920"/>
                  <a:gd name="textAreaRight" fmla="*/ 71280 w 70920"/>
                  <a:gd name="textAreaTop" fmla="*/ 0 h 70920"/>
                  <a:gd name="textAreaBottom" fmla="*/ 71280 h 70920"/>
                </a:gdLst>
                <a:ahLst/>
                <a:rect l="textAreaLeft" t="textAreaTop" r="textAreaRight" b="textAreaBottom"/>
                <a:pathLst>
                  <a:path w="71438" h="71438">
                    <a:moveTo>
                      <a:pt x="0" y="0"/>
                    </a:moveTo>
                    <a:lnTo>
                      <a:pt x="0" y="57150"/>
                    </a:lnTo>
                    <a:cubicBezTo>
                      <a:pt x="0" y="65041"/>
                      <a:pt x="6397" y="71438"/>
                      <a:pt x="14288" y="71438"/>
                    </a:cubicBezTo>
                    <a:lnTo>
                      <a:pt x="71438" y="71438"/>
                    </a:lnTo>
                  </a:path>
                </a:pathLst>
              </a:custGeom>
              <a:noFill/>
              <a:ln w="28440">
                <a:solidFill>
                  <a:schemeClr val="accent1"/>
                </a:solidFill>
                <a:round/>
              </a:ln>
            </p:spPr>
            <p:style>
              <a:lnRef idx="0"/>
              <a:fillRef idx="0"/>
              <a:effectRef idx="0"/>
              <a:fontRef idx="minor"/>
            </p:style>
            <p:txBody>
              <a:bodyPr lIns="90000" rIns="90000" tIns="26280" bIns="26280" anchor="t">
                <a:noAutofit/>
              </a:bodyPr>
              <a:p>
                <a:endParaRPr b="0" lang="en-GB" sz="1800" spc="-1" strike="noStrike">
                  <a:solidFill>
                    <a:srgbClr val="000000"/>
                  </a:solidFill>
                  <a:latin typeface="Arial"/>
                </a:endParaRPr>
              </a:p>
            </p:txBody>
          </p:sp>
          <p:sp>
            <p:nvSpPr>
              <p:cNvPr id="69" name="Freeform 39"/>
              <p:cNvSpPr/>
              <p:nvPr/>
            </p:nvSpPr>
            <p:spPr>
              <a:xfrm>
                <a:off x="5386320" y="1843200"/>
                <a:ext cx="199800" cy="256680"/>
              </a:xfrm>
              <a:custGeom>
                <a:avLst/>
                <a:gdLst>
                  <a:gd name="textAreaLeft" fmla="*/ 0 w 199800"/>
                  <a:gd name="textAreaRight" fmla="*/ 200160 w 199800"/>
                  <a:gd name="textAreaTop" fmla="*/ 0 h 256680"/>
                  <a:gd name="textAreaBottom" fmla="*/ 257040 h 256680"/>
                </a:gdLst>
                <a:ahLst/>
                <a:rect l="textAreaLeft" t="textAreaTop" r="textAreaRight" b="textAreaBottom"/>
                <a:pathLst>
                  <a:path w="200025" h="257175">
                    <a:moveTo>
                      <a:pt x="171450" y="257175"/>
                    </a:moveTo>
                    <a:lnTo>
                      <a:pt x="28575" y="257175"/>
                    </a:lnTo>
                    <a:cubicBezTo>
                      <a:pt x="12793" y="257175"/>
                      <a:pt x="0" y="244382"/>
                      <a:pt x="0" y="228600"/>
                    </a:cubicBezTo>
                    <a:lnTo>
                      <a:pt x="0" y="28575"/>
                    </a:lnTo>
                    <a:cubicBezTo>
                      <a:pt x="0" y="12793"/>
                      <a:pt x="12793" y="0"/>
                      <a:pt x="28575" y="0"/>
                    </a:cubicBezTo>
                    <a:lnTo>
                      <a:pt x="128588" y="0"/>
                    </a:lnTo>
                    <a:lnTo>
                      <a:pt x="200025" y="71438"/>
                    </a:lnTo>
                    <a:lnTo>
                      <a:pt x="200025" y="228600"/>
                    </a:lnTo>
                    <a:cubicBezTo>
                      <a:pt x="200025" y="244382"/>
                      <a:pt x="187232" y="257175"/>
                      <a:pt x="171450" y="257175"/>
                    </a:cubicBez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70" name="Freeform 40"/>
              <p:cNvSpPr/>
              <p:nvPr/>
            </p:nvSpPr>
            <p:spPr>
              <a:xfrm>
                <a:off x="5443560" y="1928880"/>
                <a:ext cx="14040" cy="9000"/>
              </a:xfrm>
              <a:custGeom>
                <a:avLst/>
                <a:gdLst>
                  <a:gd name="textAreaLeft" fmla="*/ 0 w 14040"/>
                  <a:gd name="textAreaRight" fmla="*/ 14400 w 14040"/>
                  <a:gd name="textAreaTop" fmla="*/ 0 h 9000"/>
                  <a:gd name="textAreaBottom" fmla="*/ 9360 h 9000"/>
                </a:gdLst>
                <a:ahLst/>
                <a:rect l="textAreaLeft" t="textAreaTop" r="textAreaRight" b="textAreaBottom"/>
                <a:pathLst>
                  <a:path w="14288" h="9525">
                    <a:moveTo>
                      <a:pt x="0" y="0"/>
                    </a:moveTo>
                    <a:lnTo>
                      <a:pt x="14288"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71" name="Freeform 41"/>
              <p:cNvSpPr/>
              <p:nvPr/>
            </p:nvSpPr>
            <p:spPr>
              <a:xfrm>
                <a:off x="5443560" y="1986120"/>
                <a:ext cx="85320" cy="9000"/>
              </a:xfrm>
              <a:custGeom>
                <a:avLst/>
                <a:gdLst>
                  <a:gd name="textAreaLeft" fmla="*/ 0 w 85320"/>
                  <a:gd name="textAreaRight" fmla="*/ 85680 w 85320"/>
                  <a:gd name="textAreaTop" fmla="*/ 0 h 9000"/>
                  <a:gd name="textAreaBottom" fmla="*/ 9360 h 9000"/>
                </a:gdLst>
                <a:ahLst/>
                <a:rect l="textAreaLeft" t="textAreaTop" r="textAreaRight" b="textAreaBottom"/>
                <a:pathLst>
                  <a:path w="85725" h="9525">
                    <a:moveTo>
                      <a:pt x="0" y="0"/>
                    </a:moveTo>
                    <a:lnTo>
                      <a:pt x="85725"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72" name="Freeform 42"/>
              <p:cNvSpPr/>
              <p:nvPr/>
            </p:nvSpPr>
            <p:spPr>
              <a:xfrm>
                <a:off x="5443560" y="2043000"/>
                <a:ext cx="85320" cy="9000"/>
              </a:xfrm>
              <a:custGeom>
                <a:avLst/>
                <a:gdLst>
                  <a:gd name="textAreaLeft" fmla="*/ 0 w 85320"/>
                  <a:gd name="textAreaRight" fmla="*/ 85680 w 85320"/>
                  <a:gd name="textAreaTop" fmla="*/ 0 h 9000"/>
                  <a:gd name="textAreaBottom" fmla="*/ 9360 h 9000"/>
                </a:gdLst>
                <a:ahLst/>
                <a:rect l="textAreaLeft" t="textAreaTop" r="textAreaRight" b="textAreaBottom"/>
                <a:pathLst>
                  <a:path w="85725" h="9525">
                    <a:moveTo>
                      <a:pt x="0" y="0"/>
                    </a:moveTo>
                    <a:lnTo>
                      <a:pt x="85725"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grpSp>
        <p:grpSp>
          <p:nvGrpSpPr>
            <p:cNvPr id="73" name="Group 47"/>
            <p:cNvGrpSpPr/>
            <p:nvPr/>
          </p:nvGrpSpPr>
          <p:grpSpPr>
            <a:xfrm>
              <a:off x="8695080" y="1843200"/>
              <a:ext cx="173880" cy="256680"/>
              <a:chOff x="8695080" y="1843200"/>
              <a:chExt cx="173880" cy="256680"/>
            </a:xfrm>
          </p:grpSpPr>
          <p:sp>
            <p:nvSpPr>
              <p:cNvPr id="74" name="Freeform 44"/>
              <p:cNvSpPr/>
              <p:nvPr/>
            </p:nvSpPr>
            <p:spPr>
              <a:xfrm>
                <a:off x="8739360" y="1843200"/>
                <a:ext cx="85320" cy="9000"/>
              </a:xfrm>
              <a:custGeom>
                <a:avLst/>
                <a:gdLst>
                  <a:gd name="textAreaLeft" fmla="*/ 0 w 85320"/>
                  <a:gd name="textAreaRight" fmla="*/ 85680 w 85320"/>
                  <a:gd name="textAreaTop" fmla="*/ 0 h 9000"/>
                  <a:gd name="textAreaBottom" fmla="*/ 9360 h 9000"/>
                </a:gdLst>
                <a:ahLst/>
                <a:rect l="textAreaLeft" t="textAreaTop" r="textAreaRight" b="textAreaBottom"/>
                <a:pathLst>
                  <a:path w="85725" h="9525">
                    <a:moveTo>
                      <a:pt x="0" y="0"/>
                    </a:moveTo>
                    <a:lnTo>
                      <a:pt x="85725"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75" name="Freeform 45"/>
              <p:cNvSpPr/>
              <p:nvPr/>
            </p:nvSpPr>
            <p:spPr>
              <a:xfrm>
                <a:off x="8753400" y="1928880"/>
                <a:ext cx="56880" cy="9000"/>
              </a:xfrm>
              <a:custGeom>
                <a:avLst/>
                <a:gdLst>
                  <a:gd name="textAreaLeft" fmla="*/ 0 w 56880"/>
                  <a:gd name="textAreaRight" fmla="*/ 57240 w 56880"/>
                  <a:gd name="textAreaTop" fmla="*/ 0 h 9000"/>
                  <a:gd name="textAreaBottom" fmla="*/ 9360 h 9000"/>
                </a:gdLst>
                <a:ahLst/>
                <a:rect l="textAreaLeft" t="textAreaTop" r="textAreaRight" b="textAreaBottom"/>
                <a:pathLst>
                  <a:path w="57150" h="9525">
                    <a:moveTo>
                      <a:pt x="0" y="0"/>
                    </a:moveTo>
                    <a:lnTo>
                      <a:pt x="57150"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76" name="Freeform 46"/>
              <p:cNvSpPr/>
              <p:nvPr/>
            </p:nvSpPr>
            <p:spPr>
              <a:xfrm>
                <a:off x="8695080" y="1843200"/>
                <a:ext cx="173880" cy="256680"/>
              </a:xfrm>
              <a:custGeom>
                <a:avLst/>
                <a:gdLst>
                  <a:gd name="textAreaLeft" fmla="*/ 0 w 173880"/>
                  <a:gd name="textAreaRight" fmla="*/ 174240 w 173880"/>
                  <a:gd name="textAreaTop" fmla="*/ 0 h 256680"/>
                  <a:gd name="textAreaBottom" fmla="*/ 257040 h 256680"/>
                </a:gdLst>
                <a:ahLst/>
                <a:rect l="textAreaLeft" t="textAreaTop" r="textAreaRight" b="textAreaBottom"/>
                <a:pathLst>
                  <a:path w="174245" h="257175">
                    <a:moveTo>
                      <a:pt x="58548" y="0"/>
                    </a:moveTo>
                    <a:lnTo>
                      <a:pt x="58548" y="85725"/>
                    </a:lnTo>
                    <a:lnTo>
                      <a:pt x="1398" y="242888"/>
                    </a:lnTo>
                    <a:cubicBezTo>
                      <a:pt x="0" y="245699"/>
                      <a:pt x="4" y="249004"/>
                      <a:pt x="1408" y="251812"/>
                    </a:cubicBezTo>
                    <a:cubicBezTo>
                      <a:pt x="2812" y="254620"/>
                      <a:pt x="5454" y="256606"/>
                      <a:pt x="8541" y="257175"/>
                    </a:cubicBezTo>
                    <a:lnTo>
                      <a:pt x="165704" y="257175"/>
                    </a:lnTo>
                    <a:cubicBezTo>
                      <a:pt x="168792" y="256606"/>
                      <a:pt x="171433" y="254620"/>
                      <a:pt x="172837" y="251812"/>
                    </a:cubicBezTo>
                    <a:cubicBezTo>
                      <a:pt x="174241" y="249004"/>
                      <a:pt x="174245" y="245699"/>
                      <a:pt x="172848" y="242888"/>
                    </a:cubicBezTo>
                    <a:lnTo>
                      <a:pt x="115698" y="85725"/>
                    </a:lnTo>
                    <a:lnTo>
                      <a:pt x="115698" y="0"/>
                    </a:ln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grpSp>
          <p:nvGrpSpPr>
            <p:cNvPr id="77" name="Group 51"/>
            <p:cNvGrpSpPr/>
            <p:nvPr/>
          </p:nvGrpSpPr>
          <p:grpSpPr>
            <a:xfrm>
              <a:off x="5357880" y="2619360"/>
              <a:ext cx="256680" cy="228240"/>
              <a:chOff x="5357880" y="2619360"/>
              <a:chExt cx="256680" cy="228240"/>
            </a:xfrm>
          </p:grpSpPr>
          <p:sp>
            <p:nvSpPr>
              <p:cNvPr id="78" name="Freeform 48"/>
              <p:cNvSpPr/>
              <p:nvPr/>
            </p:nvSpPr>
            <p:spPr>
              <a:xfrm>
                <a:off x="5429160" y="2690640"/>
                <a:ext cx="42480" cy="85320"/>
              </a:xfrm>
              <a:custGeom>
                <a:avLst/>
                <a:gdLst>
                  <a:gd name="textAreaLeft" fmla="*/ 0 w 42480"/>
                  <a:gd name="textAreaRight" fmla="*/ 42840 w 42480"/>
                  <a:gd name="textAreaTop" fmla="*/ 0 h 85320"/>
                  <a:gd name="textAreaBottom" fmla="*/ 85680 h 85320"/>
                </a:gdLst>
                <a:ahLst/>
                <a:rect l="textAreaLeft" t="textAreaTop" r="textAreaRight" b="textAreaBottom"/>
                <a:pathLst>
                  <a:path w="42862" h="85725">
                    <a:moveTo>
                      <a:pt x="0" y="0"/>
                    </a:moveTo>
                    <a:lnTo>
                      <a:pt x="42862" y="42862"/>
                    </a:lnTo>
                    <a:lnTo>
                      <a:pt x="0" y="85725"/>
                    </a:lnTo>
                  </a:path>
                </a:pathLst>
              </a:custGeom>
              <a:noFill/>
              <a:ln w="28440">
                <a:solidFill>
                  <a:schemeClr val="accent1"/>
                </a:solidFill>
                <a:round/>
              </a:ln>
            </p:spPr>
            <p:style>
              <a:lnRef idx="0"/>
              <a:fillRef idx="0"/>
              <a:effectRef idx="0"/>
              <a:fontRef idx="minor"/>
            </p:style>
            <p:txBody>
              <a:bodyPr lIns="90000" rIns="90000" tIns="40680" bIns="40680" anchor="t">
                <a:noAutofit/>
              </a:bodyPr>
              <a:p>
                <a:endParaRPr b="0" lang="en-GB" sz="1800" spc="-1" strike="noStrike">
                  <a:solidFill>
                    <a:srgbClr val="000000"/>
                  </a:solidFill>
                  <a:latin typeface="Arial"/>
                </a:endParaRPr>
              </a:p>
            </p:txBody>
          </p:sp>
          <p:sp>
            <p:nvSpPr>
              <p:cNvPr id="79" name="Freeform 49"/>
              <p:cNvSpPr/>
              <p:nvPr/>
            </p:nvSpPr>
            <p:spPr>
              <a:xfrm>
                <a:off x="5500800" y="2776680"/>
                <a:ext cx="42480" cy="9000"/>
              </a:xfrm>
              <a:custGeom>
                <a:avLst/>
                <a:gdLst>
                  <a:gd name="textAreaLeft" fmla="*/ 0 w 42480"/>
                  <a:gd name="textAreaRight" fmla="*/ 42840 w 42480"/>
                  <a:gd name="textAreaTop" fmla="*/ 0 h 9000"/>
                  <a:gd name="textAreaBottom" fmla="*/ 9360 h 9000"/>
                </a:gdLst>
                <a:ahLst/>
                <a:rect l="textAreaLeft" t="textAreaTop" r="textAreaRight" b="textAreaBottom"/>
                <a:pathLst>
                  <a:path w="42862" h="9525">
                    <a:moveTo>
                      <a:pt x="0" y="0"/>
                    </a:moveTo>
                    <a:lnTo>
                      <a:pt x="42862"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80" name="Freeform 50"/>
              <p:cNvSpPr/>
              <p:nvPr/>
            </p:nvSpPr>
            <p:spPr>
              <a:xfrm>
                <a:off x="5357880" y="2619360"/>
                <a:ext cx="256680" cy="228240"/>
              </a:xfrm>
              <a:custGeom>
                <a:avLst/>
                <a:gdLst>
                  <a:gd name="textAreaLeft" fmla="*/ 0 w 256680"/>
                  <a:gd name="textAreaRight" fmla="*/ 257040 w 256680"/>
                  <a:gd name="textAreaTop" fmla="*/ 0 h 228240"/>
                  <a:gd name="textAreaBottom" fmla="*/ 228600 h 228240"/>
                </a:gdLst>
                <a:ahLst/>
                <a:rect l="textAreaLeft" t="textAreaTop" r="textAreaRight" b="textAreaBottom"/>
                <a:pathLst>
                  <a:path w="257175" h="228600">
                    <a:moveTo>
                      <a:pt x="0" y="28575"/>
                    </a:moveTo>
                    <a:cubicBezTo>
                      <a:pt x="0" y="12793"/>
                      <a:pt x="12793" y="0"/>
                      <a:pt x="28575" y="0"/>
                    </a:cubicBezTo>
                    <a:lnTo>
                      <a:pt x="228600" y="0"/>
                    </a:lnTo>
                    <a:cubicBezTo>
                      <a:pt x="244382" y="0"/>
                      <a:pt x="257175" y="12793"/>
                      <a:pt x="257175" y="28575"/>
                    </a:cubicBezTo>
                    <a:lnTo>
                      <a:pt x="257175" y="200025"/>
                    </a:lnTo>
                    <a:cubicBezTo>
                      <a:pt x="257175" y="215807"/>
                      <a:pt x="244382" y="228600"/>
                      <a:pt x="228600" y="228600"/>
                    </a:cubicBezTo>
                    <a:lnTo>
                      <a:pt x="28575" y="228600"/>
                    </a:lnTo>
                    <a:cubicBezTo>
                      <a:pt x="12793" y="228600"/>
                      <a:pt x="0" y="215807"/>
                      <a:pt x="0" y="200025"/>
                    </a:cubicBezTo>
                    <a:lnTo>
                      <a:pt x="0" y="28575"/>
                    </a:ln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sp>
          <p:nvSpPr>
            <p:cNvPr id="81" name="Freeform 52"/>
            <p:cNvSpPr/>
            <p:nvPr/>
          </p:nvSpPr>
          <p:spPr>
            <a:xfrm>
              <a:off x="8653320" y="2619360"/>
              <a:ext cx="256680" cy="213840"/>
            </a:xfrm>
            <a:custGeom>
              <a:avLst/>
              <a:gdLst>
                <a:gd name="textAreaLeft" fmla="*/ 0 w 256680"/>
                <a:gd name="textAreaRight" fmla="*/ 257040 w 256680"/>
                <a:gd name="textAreaTop" fmla="*/ 0 h 213840"/>
                <a:gd name="textAreaBottom" fmla="*/ 214200 h 213840"/>
              </a:gdLst>
              <a:ahLst/>
              <a:rect l="textAreaLeft" t="textAreaTop" r="textAreaRight" b="textAreaBottom"/>
              <a:pathLst>
                <a:path w="257175" h="214312">
                  <a:moveTo>
                    <a:pt x="28575" y="0"/>
                  </a:moveTo>
                  <a:lnTo>
                    <a:pt x="85725" y="0"/>
                  </a:lnTo>
                  <a:lnTo>
                    <a:pt x="128588" y="42862"/>
                  </a:lnTo>
                  <a:lnTo>
                    <a:pt x="228600" y="42862"/>
                  </a:lnTo>
                  <a:cubicBezTo>
                    <a:pt x="244382" y="42862"/>
                    <a:pt x="257175" y="55656"/>
                    <a:pt x="257175" y="71438"/>
                  </a:cubicBezTo>
                  <a:lnTo>
                    <a:pt x="257175" y="185738"/>
                  </a:lnTo>
                  <a:cubicBezTo>
                    <a:pt x="257175" y="201519"/>
                    <a:pt x="244382" y="214312"/>
                    <a:pt x="228600" y="214312"/>
                  </a:cubicBezTo>
                  <a:lnTo>
                    <a:pt x="28575" y="214312"/>
                  </a:lnTo>
                  <a:cubicBezTo>
                    <a:pt x="12793" y="214312"/>
                    <a:pt x="0" y="201519"/>
                    <a:pt x="0" y="185738"/>
                  </a:cubicBezTo>
                  <a:lnTo>
                    <a:pt x="0" y="28575"/>
                  </a:lnTo>
                  <a:cubicBezTo>
                    <a:pt x="0" y="12793"/>
                    <a:pt x="12793" y="0"/>
                    <a:pt x="28575" y="0"/>
                  </a:cubicBez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82" name="TextBox 53"/>
            <p:cNvSpPr/>
            <p:nvPr/>
          </p:nvSpPr>
          <p:spPr>
            <a:xfrm>
              <a:off x="5889600" y="1809720"/>
              <a:ext cx="2294640" cy="305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2000" spc="-1" strike="noStrike">
                  <a:solidFill>
                    <a:schemeClr val="dk1"/>
                  </a:solidFill>
                  <a:latin typeface="Aptos"/>
                  <a:ea typeface="Microsoft YaHei"/>
                </a:rPr>
                <a:t>Knowledge records</a:t>
              </a:r>
              <a:endParaRPr b="0" lang="en-GB" sz="2000" spc="-1" strike="noStrike">
                <a:solidFill>
                  <a:srgbClr val="000000"/>
                </a:solidFill>
                <a:latin typeface="Arial"/>
              </a:endParaRPr>
            </a:p>
          </p:txBody>
        </p:sp>
        <p:sp>
          <p:nvSpPr>
            <p:cNvPr id="83" name="TextBox 54"/>
            <p:cNvSpPr/>
            <p:nvPr/>
          </p:nvSpPr>
          <p:spPr>
            <a:xfrm>
              <a:off x="9132120" y="1809720"/>
              <a:ext cx="1060200" cy="305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2000" spc="-1" strike="noStrike">
                  <a:solidFill>
                    <a:schemeClr val="dk1"/>
                  </a:solidFill>
                  <a:latin typeface="Aptos"/>
                  <a:ea typeface="Microsoft YaHei"/>
                </a:rPr>
                <a:t>Evidence</a:t>
              </a:r>
              <a:endParaRPr b="0" lang="en-GB" sz="2000" spc="-1" strike="noStrike">
                <a:solidFill>
                  <a:srgbClr val="000000"/>
                </a:solidFill>
                <a:latin typeface="Arial"/>
              </a:endParaRPr>
            </a:p>
          </p:txBody>
        </p:sp>
        <p:sp>
          <p:nvSpPr>
            <p:cNvPr id="84" name="TextBox 55"/>
            <p:cNvSpPr/>
            <p:nvPr/>
          </p:nvSpPr>
          <p:spPr>
            <a:xfrm>
              <a:off x="5894640" y="2571840"/>
              <a:ext cx="1352880" cy="305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2000" spc="-1" strike="noStrike">
                  <a:solidFill>
                    <a:schemeClr val="dk1"/>
                  </a:solidFill>
                  <a:latin typeface="Aptos"/>
                  <a:ea typeface="Microsoft YaHei"/>
                </a:rPr>
                <a:t>Procedures</a:t>
              </a:r>
              <a:endParaRPr b="0" lang="en-GB" sz="2000" spc="-1" strike="noStrike">
                <a:solidFill>
                  <a:srgbClr val="000000"/>
                </a:solidFill>
                <a:latin typeface="Arial"/>
              </a:endParaRPr>
            </a:p>
          </p:txBody>
        </p:sp>
        <p:sp>
          <p:nvSpPr>
            <p:cNvPr id="85" name="TextBox 56"/>
            <p:cNvSpPr/>
            <p:nvPr/>
          </p:nvSpPr>
          <p:spPr>
            <a:xfrm>
              <a:off x="9125280" y="2571840"/>
              <a:ext cx="1890720" cy="305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2000" spc="-1" strike="noStrike">
                  <a:solidFill>
                    <a:schemeClr val="dk1"/>
                  </a:solidFill>
                  <a:latin typeface="Aptos"/>
                  <a:ea typeface="Microsoft YaHei"/>
                </a:rPr>
                <a:t>Supporting files</a:t>
              </a:r>
              <a:endParaRPr b="0" lang="en-GB" sz="2000" spc="-1" strike="noStrike">
                <a:solidFill>
                  <a:srgbClr val="000000"/>
                </a:solidFill>
                <a:latin typeface="Arial"/>
              </a:endParaRPr>
            </a:p>
          </p:txBody>
        </p:sp>
      </p:grpSp>
      <p:grpSp>
        <p:nvGrpSpPr>
          <p:cNvPr id="86" name="capsule-facts"/>
          <p:cNvGrpSpPr/>
          <p:nvPr/>
        </p:nvGrpSpPr>
        <p:grpSpPr>
          <a:xfrm>
            <a:off x="5312880" y="3371760"/>
            <a:ext cx="5586120" cy="1411560"/>
            <a:chOff x="5312880" y="3371760"/>
            <a:chExt cx="5586120" cy="1411560"/>
          </a:xfrm>
        </p:grpSpPr>
        <p:grpSp>
          <p:nvGrpSpPr>
            <p:cNvPr id="87" name="Group 62"/>
            <p:cNvGrpSpPr/>
            <p:nvPr/>
          </p:nvGrpSpPr>
          <p:grpSpPr>
            <a:xfrm>
              <a:off x="5386320" y="3371760"/>
              <a:ext cx="5512680" cy="1105560"/>
              <a:chOff x="5386320" y="3371760"/>
              <a:chExt cx="5512680" cy="1105560"/>
            </a:xfrm>
          </p:grpSpPr>
          <p:sp>
            <p:nvSpPr>
              <p:cNvPr id="88" name="TextBox 59"/>
              <p:cNvSpPr/>
              <p:nvPr/>
            </p:nvSpPr>
            <p:spPr>
              <a:xfrm>
                <a:off x="5500080" y="3371760"/>
                <a:ext cx="539892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2250" spc="-1" strike="noStrike">
                    <a:solidFill>
                      <a:schemeClr val="dk1"/>
                    </a:solidFill>
                    <a:latin typeface="Aptos"/>
                    <a:ea typeface="Microsoft YaHei"/>
                  </a:rPr>
                  <a:t>Inspectable directory · exportable as ZIP</a:t>
                </a:r>
                <a:endParaRPr b="0" lang="en-GB" sz="2250" spc="-1" strike="noStrike">
                  <a:solidFill>
                    <a:srgbClr val="000000"/>
                  </a:solidFill>
                  <a:latin typeface="Arial"/>
                </a:endParaRPr>
              </a:p>
            </p:txBody>
          </p:sp>
          <p:sp>
            <p:nvSpPr>
              <p:cNvPr id="89" name="TextBox 60"/>
              <p:cNvSpPr/>
              <p:nvPr/>
            </p:nvSpPr>
            <p:spPr>
              <a:xfrm>
                <a:off x="5386320" y="3753000"/>
                <a:ext cx="300636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2250" spc="-1" strike="noStrike">
                    <a:solidFill>
                      <a:schemeClr val="dk1"/>
                    </a:solidFill>
                    <a:latin typeface="Aptos"/>
                    <a:ea typeface="Microsoft YaHei"/>
                  </a:rPr>
                  <a:t>Git can version its files</a:t>
                </a:r>
                <a:endParaRPr b="0" lang="en-GB" sz="2250" spc="-1" strike="noStrike">
                  <a:solidFill>
                    <a:srgbClr val="000000"/>
                  </a:solidFill>
                  <a:latin typeface="Arial"/>
                </a:endParaRPr>
              </a:p>
            </p:txBody>
          </p:sp>
          <p:sp>
            <p:nvSpPr>
              <p:cNvPr id="90" name="TextBox 61"/>
              <p:cNvSpPr/>
              <p:nvPr/>
            </p:nvSpPr>
            <p:spPr>
              <a:xfrm>
                <a:off x="5518440" y="4133880"/>
                <a:ext cx="440712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2250" spc="-1" strike="noStrike">
                    <a:solidFill>
                      <a:schemeClr val="dk1"/>
                    </a:solidFill>
                    <a:latin typeface="Aptos"/>
                    <a:ea typeface="Microsoft YaHei"/>
                  </a:rPr>
                  <a:t>Interfaces: CLI · Agent Skill · MCP</a:t>
                </a:r>
                <a:endParaRPr b="0" lang="en-GB" sz="2250" spc="-1" strike="noStrike">
                  <a:solidFill>
                    <a:srgbClr val="000000"/>
                  </a:solidFill>
                  <a:latin typeface="Arial"/>
                </a:endParaRPr>
              </a:p>
            </p:txBody>
          </p:sp>
        </p:grpSp>
        <p:sp>
          <p:nvSpPr>
            <p:cNvPr id="91" name="TextBox 63"/>
            <p:cNvSpPr/>
            <p:nvPr/>
          </p:nvSpPr>
          <p:spPr>
            <a:xfrm>
              <a:off x="5312880" y="4508640"/>
              <a:ext cx="412812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accent5"/>
                  </a:solidFill>
                  <a:latin typeface="Aptos"/>
                  <a:ea typeface="Microsoft YaHei"/>
                </a:rPr>
                <a:t>The hackathon handover used the CLI.</a:t>
              </a:r>
              <a:endParaRPr b="0" lang="en-GB" sz="1800" spc="-1" strike="noStrike">
                <a:solidFill>
                  <a:srgbClr val="000000"/>
                </a:solidFill>
                <a:latin typeface="Arial"/>
              </a:endParaRPr>
            </a:p>
          </p:txBody>
        </p:sp>
      </p:grpSp>
      <p:grpSp>
        <p:nvGrpSpPr>
          <p:cNvPr id="92" name="steps"/>
          <p:cNvGrpSpPr/>
          <p:nvPr/>
        </p:nvGrpSpPr>
        <p:grpSpPr>
          <a:xfrm>
            <a:off x="734400" y="4813200"/>
            <a:ext cx="10904760" cy="1187280"/>
            <a:chOff x="734400" y="4813200"/>
            <a:chExt cx="10904760" cy="1187280"/>
          </a:xfrm>
        </p:grpSpPr>
        <p:sp>
          <p:nvSpPr>
            <p:cNvPr id="93" name="TextBox 65"/>
            <p:cNvSpPr/>
            <p:nvPr/>
          </p:nvSpPr>
          <p:spPr>
            <a:xfrm>
              <a:off x="734400" y="4813200"/>
              <a:ext cx="178740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accent5"/>
                  </a:solidFill>
                  <a:latin typeface="Consolas"/>
                  <a:ea typeface="Consolas"/>
                </a:rPr>
                <a:t>capsule-maker</a:t>
              </a:r>
              <a:endParaRPr b="0" lang="en-GB" sz="1800" spc="-1" strike="noStrike">
                <a:solidFill>
                  <a:srgbClr val="000000"/>
                </a:solidFill>
                <a:latin typeface="Arial"/>
              </a:endParaRPr>
            </a:p>
          </p:txBody>
        </p:sp>
        <p:grpSp>
          <p:nvGrpSpPr>
            <p:cNvPr id="94" name="Group 71"/>
            <p:cNvGrpSpPr/>
            <p:nvPr/>
          </p:nvGrpSpPr>
          <p:grpSpPr>
            <a:xfrm>
              <a:off x="819000" y="5200560"/>
              <a:ext cx="10820160" cy="799920"/>
              <a:chOff x="819000" y="5200560"/>
              <a:chExt cx="10820160" cy="799920"/>
            </a:xfrm>
          </p:grpSpPr>
          <p:sp>
            <p:nvSpPr>
              <p:cNvPr id="95" name="Rectangle 66"/>
              <p:cNvSpPr/>
              <p:nvPr/>
            </p:nvSpPr>
            <p:spPr>
              <a:xfrm>
                <a:off x="819000" y="5200560"/>
                <a:ext cx="1866600" cy="79992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6" name="Rectangle 67"/>
              <p:cNvSpPr/>
              <p:nvPr/>
            </p:nvSpPr>
            <p:spPr>
              <a:xfrm>
                <a:off x="3057480" y="5200560"/>
                <a:ext cx="1866600" cy="79992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7" name="Rectangle 68"/>
              <p:cNvSpPr/>
              <p:nvPr/>
            </p:nvSpPr>
            <p:spPr>
              <a:xfrm>
                <a:off x="5295960" y="5200560"/>
                <a:ext cx="1866600" cy="79992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8" name="Rectangle 69"/>
              <p:cNvSpPr/>
              <p:nvPr/>
            </p:nvSpPr>
            <p:spPr>
              <a:xfrm>
                <a:off x="7534440" y="5200560"/>
                <a:ext cx="1866600" cy="79992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9" name="Rectangle 70"/>
              <p:cNvSpPr/>
              <p:nvPr/>
            </p:nvSpPr>
            <p:spPr>
              <a:xfrm>
                <a:off x="9772560" y="5200560"/>
                <a:ext cx="1866600" cy="79992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grpSp>
        <p:grpSp>
          <p:nvGrpSpPr>
            <p:cNvPr id="100" name="Group 76"/>
            <p:cNvGrpSpPr/>
            <p:nvPr/>
          </p:nvGrpSpPr>
          <p:grpSpPr>
            <a:xfrm>
              <a:off x="762120" y="5143680"/>
              <a:ext cx="10820160" cy="799920"/>
              <a:chOff x="762120" y="5143680"/>
              <a:chExt cx="10820160" cy="799920"/>
            </a:xfrm>
          </p:grpSpPr>
          <p:sp>
            <p:nvSpPr>
              <p:cNvPr id="101" name="Rectangle 72"/>
              <p:cNvSpPr/>
              <p:nvPr/>
            </p:nvSpPr>
            <p:spPr>
              <a:xfrm>
                <a:off x="762120" y="5143680"/>
                <a:ext cx="1866600" cy="799920"/>
              </a:xfrm>
              <a:prstGeom prst="roundRect">
                <a:avLst>
                  <a:gd name="adj" fmla="val 16667"/>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02" name="Rectangle 73"/>
              <p:cNvSpPr/>
              <p:nvPr/>
            </p:nvSpPr>
            <p:spPr>
              <a:xfrm>
                <a:off x="5238720" y="5143680"/>
                <a:ext cx="1866600" cy="799920"/>
              </a:xfrm>
              <a:prstGeom prst="roundRect">
                <a:avLst>
                  <a:gd name="adj" fmla="val 16667"/>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03" name="Rectangle 74"/>
              <p:cNvSpPr/>
              <p:nvPr/>
            </p:nvSpPr>
            <p:spPr>
              <a:xfrm>
                <a:off x="7477200" y="5143680"/>
                <a:ext cx="1866600" cy="799920"/>
              </a:xfrm>
              <a:prstGeom prst="roundRect">
                <a:avLst>
                  <a:gd name="adj" fmla="val 16667"/>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04" name="Rectangle 75"/>
              <p:cNvSpPr/>
              <p:nvPr/>
            </p:nvSpPr>
            <p:spPr>
              <a:xfrm>
                <a:off x="9715680" y="5143680"/>
                <a:ext cx="1866600" cy="799920"/>
              </a:xfrm>
              <a:prstGeom prst="roundRect">
                <a:avLst>
                  <a:gd name="adj" fmla="val 16667"/>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sp>
          <p:nvSpPr>
            <p:cNvPr id="105" name="Rectangle 77"/>
            <p:cNvSpPr/>
            <p:nvPr/>
          </p:nvSpPr>
          <p:spPr>
            <a:xfrm>
              <a:off x="3000240" y="5143680"/>
              <a:ext cx="1866600" cy="799920"/>
            </a:xfrm>
            <a:prstGeom prst="roundRect">
              <a:avLst>
                <a:gd name="adj" fmla="val 16667"/>
              </a:avLst>
            </a:prstGeom>
            <a:solidFill>
              <a:schemeClr val="accent1"/>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6" name="Freeform 78"/>
            <p:cNvSpPr/>
            <p:nvPr/>
          </p:nvSpPr>
          <p:spPr>
            <a:xfrm>
              <a:off x="2676600" y="5410080"/>
              <a:ext cx="275760" cy="26640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7" name="Freeform 79"/>
            <p:cNvSpPr/>
            <p:nvPr/>
          </p:nvSpPr>
          <p:spPr>
            <a:xfrm>
              <a:off x="4915080" y="5410080"/>
              <a:ext cx="275760" cy="26640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8" name="Freeform 80"/>
            <p:cNvSpPr/>
            <p:nvPr/>
          </p:nvSpPr>
          <p:spPr>
            <a:xfrm>
              <a:off x="7153200" y="5410080"/>
              <a:ext cx="275760" cy="26640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09" name="Freeform 81"/>
            <p:cNvSpPr/>
            <p:nvPr/>
          </p:nvSpPr>
          <p:spPr>
            <a:xfrm>
              <a:off x="9391680" y="5410080"/>
              <a:ext cx="275760" cy="26640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grpSp>
          <p:nvGrpSpPr>
            <p:cNvPr id="110" name="Group 87"/>
            <p:cNvGrpSpPr/>
            <p:nvPr/>
          </p:nvGrpSpPr>
          <p:grpSpPr>
            <a:xfrm>
              <a:off x="1247400" y="5257800"/>
              <a:ext cx="9849240" cy="297720"/>
              <a:chOff x="1247400" y="5257800"/>
              <a:chExt cx="9849240" cy="297720"/>
            </a:xfrm>
          </p:grpSpPr>
          <p:sp>
            <p:nvSpPr>
              <p:cNvPr id="111" name="TextBox 82"/>
              <p:cNvSpPr/>
              <p:nvPr/>
            </p:nvSpPr>
            <p:spPr>
              <a:xfrm>
                <a:off x="1247400" y="5257800"/>
                <a:ext cx="895680" cy="2977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1950" spc="-1" strike="noStrike">
                    <a:solidFill>
                      <a:schemeClr val="dk1"/>
                    </a:solidFill>
                    <a:latin typeface="Consolas"/>
                    <a:ea typeface="Consolas"/>
                  </a:rPr>
                  <a:t>create</a:t>
                </a:r>
                <a:endParaRPr b="0" lang="en-GB" sz="1950" spc="-1" strike="noStrike">
                  <a:solidFill>
                    <a:srgbClr val="000000"/>
                  </a:solidFill>
                  <a:latin typeface="Arial"/>
                </a:endParaRPr>
              </a:p>
            </p:txBody>
          </p:sp>
          <p:sp>
            <p:nvSpPr>
              <p:cNvPr id="112" name="TextBox 83"/>
              <p:cNvSpPr/>
              <p:nvPr/>
            </p:nvSpPr>
            <p:spPr>
              <a:xfrm>
                <a:off x="3411000" y="5257800"/>
                <a:ext cx="1045080" cy="2977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1950" spc="-1" strike="noStrike">
                    <a:solidFill>
                      <a:srgbClr val="f8f6f1"/>
                    </a:solidFill>
                    <a:latin typeface="Consolas"/>
                    <a:ea typeface="Consolas"/>
                  </a:rPr>
                  <a:t>approve</a:t>
                </a:r>
                <a:endParaRPr b="0" lang="en-GB" sz="1950" spc="-1" strike="noStrike">
                  <a:solidFill>
                    <a:srgbClr val="000000"/>
                  </a:solidFill>
                  <a:latin typeface="Arial"/>
                </a:endParaRPr>
              </a:p>
            </p:txBody>
          </p:sp>
          <p:sp>
            <p:nvSpPr>
              <p:cNvPr id="113" name="TextBox 84"/>
              <p:cNvSpPr/>
              <p:nvPr/>
            </p:nvSpPr>
            <p:spPr>
              <a:xfrm>
                <a:off x="5724000" y="5257800"/>
                <a:ext cx="895680" cy="2977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1950" spc="-1" strike="noStrike">
                    <a:solidFill>
                      <a:schemeClr val="dk1"/>
                    </a:solidFill>
                    <a:latin typeface="Consolas"/>
                    <a:ea typeface="Consolas"/>
                  </a:rPr>
                  <a:t>export</a:t>
                </a:r>
                <a:endParaRPr b="0" lang="en-GB" sz="1950" spc="-1" strike="noStrike">
                  <a:solidFill>
                    <a:srgbClr val="000000"/>
                  </a:solidFill>
                  <a:latin typeface="Arial"/>
                </a:endParaRPr>
              </a:p>
            </p:txBody>
          </p:sp>
          <p:sp>
            <p:nvSpPr>
              <p:cNvPr id="114" name="TextBox 85"/>
              <p:cNvSpPr/>
              <p:nvPr/>
            </p:nvSpPr>
            <p:spPr>
              <a:xfrm>
                <a:off x="7962480" y="5257800"/>
                <a:ext cx="895680" cy="2977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1950" spc="-1" strike="noStrike">
                    <a:solidFill>
                      <a:schemeClr val="dk1"/>
                    </a:solidFill>
                    <a:latin typeface="Consolas"/>
                    <a:ea typeface="Consolas"/>
                  </a:rPr>
                  <a:t>import</a:t>
                </a:r>
                <a:endParaRPr b="0" lang="en-GB" sz="1950" spc="-1" strike="noStrike">
                  <a:solidFill>
                    <a:srgbClr val="000000"/>
                  </a:solidFill>
                  <a:latin typeface="Arial"/>
                </a:endParaRPr>
              </a:p>
            </p:txBody>
          </p:sp>
          <p:sp>
            <p:nvSpPr>
              <p:cNvPr id="115" name="TextBox 86"/>
              <p:cNvSpPr/>
              <p:nvPr/>
            </p:nvSpPr>
            <p:spPr>
              <a:xfrm>
                <a:off x="10200960" y="5257800"/>
                <a:ext cx="895680" cy="2977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1950" spc="-1" strike="noStrike">
                    <a:solidFill>
                      <a:schemeClr val="dk1"/>
                    </a:solidFill>
                    <a:latin typeface="Consolas"/>
                    <a:ea typeface="Consolas"/>
                  </a:rPr>
                  <a:t>resume</a:t>
                </a:r>
                <a:endParaRPr b="0" lang="en-GB" sz="1950" spc="-1" strike="noStrike">
                  <a:solidFill>
                    <a:srgbClr val="000000"/>
                  </a:solidFill>
                  <a:latin typeface="Arial"/>
                </a:endParaRPr>
              </a:p>
            </p:txBody>
          </p:sp>
        </p:grpSp>
        <p:grpSp>
          <p:nvGrpSpPr>
            <p:cNvPr id="116" name="Group 93"/>
            <p:cNvGrpSpPr/>
            <p:nvPr/>
          </p:nvGrpSpPr>
          <p:grpSpPr>
            <a:xfrm>
              <a:off x="1011960" y="5575320"/>
              <a:ext cx="10405440" cy="274680"/>
              <a:chOff x="1011960" y="5575320"/>
              <a:chExt cx="10405440" cy="274680"/>
            </a:xfrm>
          </p:grpSpPr>
          <p:sp>
            <p:nvSpPr>
              <p:cNvPr id="117" name="TextBox 88"/>
              <p:cNvSpPr/>
              <p:nvPr/>
            </p:nvSpPr>
            <p:spPr>
              <a:xfrm>
                <a:off x="1011960" y="5575320"/>
                <a:ext cx="136656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GB" sz="1800" spc="-1" strike="noStrike">
                    <a:solidFill>
                      <a:schemeClr val="dk1"/>
                    </a:solidFill>
                    <a:latin typeface="Aptos"/>
                    <a:ea typeface="Microsoft YaHei"/>
                  </a:rPr>
                  <a:t>pack records</a:t>
                </a:r>
                <a:endParaRPr b="0" lang="en-GB" sz="1800" spc="-1" strike="noStrike">
                  <a:solidFill>
                    <a:srgbClr val="000000"/>
                  </a:solidFill>
                  <a:latin typeface="Arial"/>
                </a:endParaRPr>
              </a:p>
            </p:txBody>
          </p:sp>
          <p:sp>
            <p:nvSpPr>
              <p:cNvPr id="118" name="TextBox 89"/>
              <p:cNvSpPr/>
              <p:nvPr/>
            </p:nvSpPr>
            <p:spPr>
              <a:xfrm>
                <a:off x="3119400" y="5575320"/>
                <a:ext cx="162864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1800" spc="-1" strike="noStrike">
                    <a:solidFill>
                      <a:srgbClr val="f8f6f1"/>
                    </a:solidFill>
                    <a:latin typeface="Aptos"/>
                    <a:ea typeface="Microsoft YaHei"/>
                  </a:rPr>
                  <a:t>human review</a:t>
                </a:r>
                <a:endParaRPr b="0" lang="en-GB" sz="1800" spc="-1" strike="noStrike">
                  <a:solidFill>
                    <a:srgbClr val="000000"/>
                  </a:solidFill>
                  <a:latin typeface="Arial"/>
                </a:endParaRPr>
              </a:p>
            </p:txBody>
          </p:sp>
          <p:sp>
            <p:nvSpPr>
              <p:cNvPr id="119" name="TextBox 90"/>
              <p:cNvSpPr/>
              <p:nvPr/>
            </p:nvSpPr>
            <p:spPr>
              <a:xfrm>
                <a:off x="5582520" y="5575320"/>
                <a:ext cx="117900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GB" sz="1800" spc="-1" strike="noStrike">
                    <a:solidFill>
                      <a:schemeClr val="dk1"/>
                    </a:solidFill>
                    <a:latin typeface="Aptos"/>
                    <a:ea typeface="Microsoft YaHei"/>
                  </a:rPr>
                  <a:t>ZIP archive</a:t>
                </a:r>
                <a:endParaRPr b="0" lang="en-GB" sz="1800" spc="-1" strike="noStrike">
                  <a:solidFill>
                    <a:srgbClr val="000000"/>
                  </a:solidFill>
                  <a:latin typeface="Arial"/>
                </a:endParaRPr>
              </a:p>
            </p:txBody>
          </p:sp>
          <p:sp>
            <p:nvSpPr>
              <p:cNvPr id="120" name="TextBox 91"/>
              <p:cNvSpPr/>
              <p:nvPr/>
            </p:nvSpPr>
            <p:spPr>
              <a:xfrm>
                <a:off x="7642440" y="5575320"/>
                <a:ext cx="153576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GB" sz="1800" spc="-1" strike="noStrike">
                    <a:solidFill>
                      <a:schemeClr val="dk1"/>
                    </a:solidFill>
                    <a:latin typeface="Aptos"/>
                    <a:ea typeface="Microsoft YaHei"/>
                  </a:rPr>
                  <a:t>another agent</a:t>
                </a:r>
                <a:endParaRPr b="0" lang="en-GB" sz="1800" spc="-1" strike="noStrike">
                  <a:solidFill>
                    <a:srgbClr val="000000"/>
                  </a:solidFill>
                  <a:latin typeface="Arial"/>
                </a:endParaRPr>
              </a:p>
            </p:txBody>
          </p:sp>
          <p:sp>
            <p:nvSpPr>
              <p:cNvPr id="121" name="TextBox 92"/>
              <p:cNvSpPr/>
              <p:nvPr/>
            </p:nvSpPr>
            <p:spPr>
              <a:xfrm>
                <a:off x="9880200" y="5575320"/>
                <a:ext cx="153720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GB" sz="1800" spc="-1" strike="noStrike">
                    <a:solidFill>
                      <a:schemeClr val="dk1"/>
                    </a:solidFill>
                    <a:latin typeface="Aptos"/>
                    <a:ea typeface="Microsoft YaHei"/>
                  </a:rPr>
                  <a:t>continue work</a:t>
                </a:r>
                <a:endParaRPr b="0" lang="en-GB" sz="1800" spc="-1" strike="noStrike">
                  <a:solidFill>
                    <a:srgbClr val="000000"/>
                  </a:solidFill>
                  <a:latin typeface="Arial"/>
                </a:endParaRPr>
              </a:p>
            </p:txBody>
          </p:sp>
        </p:grpSp>
      </p:grpSp>
    </p:spTree>
  </p:cSld>
  <mc:AlternateContent>
    <mc:Choice Requires="p14">
      <p:transition p14:dur="400">
        <p:fade/>
      </p:transition>
    </mc:Choice>
    <mc:Fallback>
      <p:transition>
        <p:fade/>
      </p:transition>
    </mc:Fallback>
  </mc:AlternateContent>
  <p:timing>
    <p:tnLst>
      <p:par>
        <p:cTn id="16" dur="indefinite" restart="never" nodeType="tmRoot">
          <p:childTnLst>
            <p:seq>
              <p:cTn id="17" dur="indefinite" nodeType="mainSeq">
                <p:childTnLst>
                  <p:par>
                    <p:cTn id="18" fill="hold">
                      <p:stCondLst>
                        <p:cond delay="indefinite"/>
                      </p:stCondLst>
                      <p:childTnLst>
                        <p:par>
                          <p:cTn id="19" fill="hold">
                            <p:stCondLst>
                              <p:cond delay="0"/>
                            </p:stCondLst>
                            <p:childTnLst>
                              <p:par>
                                <p:cTn id="20" nodeType="clickEffect" fill="hold" presetClass="entr" presetID="22" presetSubtype="8">
                                  <p:stCondLst>
                                    <p:cond delay="0"/>
                                  </p:stCondLst>
                                  <p:childTnLst>
                                    <p:set>
                                      <p:cBhvr>
                                        <p:cTn id="21" dur="1" fill="hold">
                                          <p:stCondLst>
                                            <p:cond delay="0"/>
                                          </p:stCondLst>
                                        </p:cTn>
                                        <p:tgtEl>
                                          <p:spTgt spid="92"/>
                                        </p:tgtEl>
                                        <p:attrNameLst>
                                          <p:attrName>style.visibility</p:attrName>
                                        </p:attrNameLst>
                                      </p:cBhvr>
                                      <p:to>
                                        <p:strVal val="visible"/>
                                      </p:to>
                                    </p:set>
                                    <p:animEffect filter="wipe(left)" transition="in">
                                      <p:cBhvr additive="repl">
                                        <p:cTn id="22" dur="500"/>
                                        <p:tgtEl>
                                          <p:spTgt spid="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6f1"/>
        </a:solidFill>
      </p:bgPr>
    </p:bg>
    <p:spTree>
      <p:nvGrpSpPr>
        <p:cNvPr id="1" name=""/>
        <p:cNvGrpSpPr/>
        <p:nvPr/>
      </p:nvGrpSpPr>
      <p:grpSpPr>
        <a:xfrm>
          <a:off x="0" y="0"/>
          <a:ext cx="0" cy="0"/>
          <a:chOff x="0" y="0"/>
          <a:chExt cx="0" cy="0"/>
        </a:xfrm>
      </p:grpSpPr>
      <p:grpSp>
        <p:nvGrpSpPr>
          <p:cNvPr id="122" name="title"/>
          <p:cNvGrpSpPr/>
          <p:nvPr/>
        </p:nvGrpSpPr>
        <p:grpSpPr>
          <a:xfrm>
            <a:off x="664560" y="495360"/>
            <a:ext cx="6459840" cy="1181160"/>
            <a:chOff x="664560" y="495360"/>
            <a:chExt cx="6459840" cy="1181160"/>
          </a:xfrm>
        </p:grpSpPr>
        <p:sp>
          <p:nvSpPr>
            <p:cNvPr id="123" name="TextBox 5"/>
            <p:cNvSpPr/>
            <p:nvPr/>
          </p:nvSpPr>
          <p:spPr>
            <a:xfrm>
              <a:off x="664560" y="495360"/>
              <a:ext cx="6459840" cy="1181160"/>
            </a:xfrm>
            <a:prstGeom prst="rect">
              <a:avLst/>
            </a:prstGeom>
            <a:noFill/>
            <a:ln w="0">
              <a:noFill/>
            </a:ln>
          </p:spPr>
          <p:style>
            <a:lnRef idx="0"/>
            <a:fillRef idx="0"/>
            <a:effectRef idx="0"/>
            <a:fontRef idx="minor"/>
          </p:style>
          <p:txBody>
            <a:bodyPr wrap="none" lIns="0" rIns="0" tIns="0" bIns="0" anchor="t">
              <a:spAutoFit/>
            </a:bodyPr>
            <a:p>
              <a:pPr defTabSz="457200">
                <a:lnSpc>
                  <a:spcPts val="4649"/>
                </a:lnSpc>
              </a:pPr>
              <a:r>
                <a:rPr b="1" lang="en-GB" sz="4050" spc="-1" strike="noStrike">
                  <a:solidFill>
                    <a:schemeClr val="dk1"/>
                  </a:solidFill>
                  <a:latin typeface="Aptos"/>
                  <a:ea typeface="Microsoft YaHei"/>
                </a:rPr>
                <a:t>Knowledge portability</a:t>
              </a:r>
              <a:br>
                <a:rPr sz="4050"/>
              </a:br>
              <a:r>
                <a:rPr b="1" lang="en-GB" sz="4050" spc="-1" strike="noStrike">
                  <a:solidFill>
                    <a:schemeClr val="dk1"/>
                  </a:solidFill>
                  <a:latin typeface="Aptos"/>
                  <a:ea typeface="Microsoft YaHei"/>
                </a:rPr>
                <a:t>and capsule combination</a:t>
              </a:r>
              <a:endParaRPr b="0" lang="en-GB" sz="4050" spc="-1" strike="noStrike">
                <a:solidFill>
                  <a:srgbClr val="000000"/>
                </a:solidFill>
                <a:latin typeface="Arial"/>
              </a:endParaRPr>
            </a:p>
          </p:txBody>
        </p:sp>
      </p:grpSp>
      <p:grpSp>
        <p:nvGrpSpPr>
          <p:cNvPr id="124" name="target"/>
          <p:cNvGrpSpPr/>
          <p:nvPr/>
        </p:nvGrpSpPr>
        <p:grpSpPr>
          <a:xfrm>
            <a:off x="7524720" y="285840"/>
            <a:ext cx="4175280" cy="1828080"/>
            <a:chOff x="7524720" y="285840"/>
            <a:chExt cx="4175280" cy="1828080"/>
          </a:xfrm>
        </p:grpSpPr>
        <p:sp>
          <p:nvSpPr>
            <p:cNvPr id="125" name="Rectangle 7"/>
            <p:cNvSpPr/>
            <p:nvPr/>
          </p:nvSpPr>
          <p:spPr>
            <a:xfrm>
              <a:off x="7603200" y="361800"/>
              <a:ext cx="4096800" cy="1752120"/>
            </a:xfrm>
            <a:prstGeom prst="roundRect">
              <a:avLst>
                <a:gd name="adj" fmla="val 7609"/>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6" name="Rectangle 8"/>
            <p:cNvSpPr/>
            <p:nvPr/>
          </p:nvSpPr>
          <p:spPr>
            <a:xfrm>
              <a:off x="7524720" y="285840"/>
              <a:ext cx="4096800" cy="1752120"/>
            </a:xfrm>
            <a:prstGeom prst="roundRect">
              <a:avLst>
                <a:gd name="adj" fmla="val 7609"/>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nvGrpSpPr>
            <p:cNvPr id="127" name="Group 12"/>
            <p:cNvGrpSpPr/>
            <p:nvPr/>
          </p:nvGrpSpPr>
          <p:grpSpPr>
            <a:xfrm>
              <a:off x="11180880" y="467280"/>
              <a:ext cx="253440" cy="246240"/>
              <a:chOff x="11180880" y="467280"/>
              <a:chExt cx="253440" cy="246240"/>
            </a:xfrm>
          </p:grpSpPr>
          <p:sp>
            <p:nvSpPr>
              <p:cNvPr id="128" name="Freeform 9"/>
              <p:cNvSpPr/>
              <p:nvPr/>
            </p:nvSpPr>
            <p:spPr>
              <a:xfrm>
                <a:off x="11307960" y="590400"/>
                <a:ext cx="9360" cy="9000"/>
              </a:xfrm>
              <a:custGeom>
                <a:avLst/>
                <a:gdLst>
                  <a:gd name="textAreaLeft" fmla="*/ 0 w 9360"/>
                  <a:gd name="textAreaRight" fmla="*/ 9720 w 9360"/>
                  <a:gd name="textAreaTop" fmla="*/ 0 h 9000"/>
                  <a:gd name="textAreaBottom" fmla="*/ 9360 h 9000"/>
                </a:gdLst>
                <a:ahLst/>
                <a:rect l="textAreaLeft" t="textAreaTop" r="textAreaRight" b="textAreaBottom"/>
                <a:pathLst>
                  <a:path w="9525" h="9525">
                    <a:moveTo>
                      <a:pt x="0" y="0"/>
                    </a:moveTo>
                    <a:lnTo>
                      <a:pt x="0" y="143"/>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129" name="Freeform 10"/>
              <p:cNvSpPr/>
              <p:nvPr/>
            </p:nvSpPr>
            <p:spPr>
              <a:xfrm>
                <a:off x="11180880" y="467280"/>
                <a:ext cx="253440" cy="246240"/>
              </a:xfrm>
              <a:custGeom>
                <a:avLst/>
                <a:gdLst>
                  <a:gd name="textAreaLeft" fmla="*/ 0 w 253440"/>
                  <a:gd name="textAreaRight" fmla="*/ 253800 w 253440"/>
                  <a:gd name="textAreaTop" fmla="*/ 0 h 246240"/>
                  <a:gd name="textAreaBottom" fmla="*/ 246600 h 246240"/>
                </a:gdLst>
                <a:ahLst/>
                <a:rect l="textAreaLeft" t="textAreaTop" r="textAreaRight" b="textAreaBottom"/>
                <a:pathLst>
                  <a:path w="246688" h="246688">
                    <a:moveTo>
                      <a:pt x="224371" y="22317"/>
                    </a:moveTo>
                    <a:cubicBezTo>
                      <a:pt x="202054" y="0"/>
                      <a:pt x="138646" y="27132"/>
                      <a:pt x="82925" y="82939"/>
                    </a:cubicBezTo>
                    <a:cubicBezTo>
                      <a:pt x="27132" y="138732"/>
                      <a:pt x="0" y="202054"/>
                      <a:pt x="22317" y="224385"/>
                    </a:cubicBezTo>
                    <a:cubicBezTo>
                      <a:pt x="44634" y="246688"/>
                      <a:pt x="108042" y="219556"/>
                      <a:pt x="163763" y="163749"/>
                    </a:cubicBezTo>
                    <a:cubicBezTo>
                      <a:pt x="219556" y="107956"/>
                      <a:pt x="246688" y="44634"/>
                      <a:pt x="224371" y="22303"/>
                    </a:cubicBez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30" name="Freeform 11"/>
              <p:cNvSpPr/>
              <p:nvPr/>
            </p:nvSpPr>
            <p:spPr>
              <a:xfrm>
                <a:off x="11180880" y="467280"/>
                <a:ext cx="253440" cy="246240"/>
              </a:xfrm>
              <a:custGeom>
                <a:avLst/>
                <a:gdLst>
                  <a:gd name="textAreaLeft" fmla="*/ 0 w 253440"/>
                  <a:gd name="textAreaRight" fmla="*/ 253800 w 253440"/>
                  <a:gd name="textAreaTop" fmla="*/ 0 h 246240"/>
                  <a:gd name="textAreaBottom" fmla="*/ 246600 h 246240"/>
                </a:gdLst>
                <a:ahLst/>
                <a:rect l="textAreaLeft" t="textAreaTop" r="textAreaRight" b="textAreaBottom"/>
                <a:pathLst>
                  <a:path w="246688" h="246688">
                    <a:moveTo>
                      <a:pt x="22317" y="22317"/>
                    </a:moveTo>
                    <a:cubicBezTo>
                      <a:pt x="0" y="44634"/>
                      <a:pt x="27132" y="108042"/>
                      <a:pt x="82939" y="163763"/>
                    </a:cubicBezTo>
                    <a:cubicBezTo>
                      <a:pt x="138732" y="219556"/>
                      <a:pt x="202054" y="246688"/>
                      <a:pt x="224385" y="224371"/>
                    </a:cubicBezTo>
                    <a:cubicBezTo>
                      <a:pt x="246688" y="202054"/>
                      <a:pt x="219556" y="138646"/>
                      <a:pt x="163749" y="82925"/>
                    </a:cubicBezTo>
                    <a:cubicBezTo>
                      <a:pt x="107956" y="27132"/>
                      <a:pt x="44634" y="0"/>
                      <a:pt x="22303" y="22317"/>
                    </a:cubicBez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sp>
          <p:nvSpPr>
            <p:cNvPr id="131" name="TextBox 13"/>
            <p:cNvSpPr/>
            <p:nvPr/>
          </p:nvSpPr>
          <p:spPr>
            <a:xfrm>
              <a:off x="7887240" y="412920"/>
              <a:ext cx="18208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accent5"/>
                  </a:solidFill>
                  <a:latin typeface="Aptos"/>
                  <a:ea typeface="Microsoft YaHei"/>
                </a:rPr>
                <a:t>Scientific target</a:t>
              </a:r>
              <a:endParaRPr b="0" lang="en-GB" sz="1800" spc="-1" strike="noStrike">
                <a:solidFill>
                  <a:srgbClr val="000000"/>
                </a:solidFill>
                <a:latin typeface="Arial"/>
              </a:endParaRPr>
            </a:p>
          </p:txBody>
        </p:sp>
        <p:sp>
          <p:nvSpPr>
            <p:cNvPr id="132" name="TextBox 14"/>
            <p:cNvSpPr/>
            <p:nvPr/>
          </p:nvSpPr>
          <p:spPr>
            <a:xfrm>
              <a:off x="7923600" y="723960"/>
              <a:ext cx="365580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2250" spc="-1" strike="noStrike">
                  <a:solidFill>
                    <a:schemeClr val="dk1"/>
                  </a:solidFill>
                  <a:latin typeface="Aptos"/>
                  <a:ea typeface="Microsoft YaHei"/>
                </a:rPr>
                <a:t>Photocatalytic peptide 6a</a:t>
              </a:r>
              <a:endParaRPr b="0" lang="en-GB" sz="2250" spc="-1" strike="noStrike">
                <a:solidFill>
                  <a:srgbClr val="000000"/>
                </a:solidFill>
                <a:latin typeface="Arial"/>
              </a:endParaRPr>
            </a:p>
          </p:txBody>
        </p:sp>
        <p:sp>
          <p:nvSpPr>
            <p:cNvPr id="133" name="TextBox 15"/>
            <p:cNvSpPr/>
            <p:nvPr/>
          </p:nvSpPr>
          <p:spPr>
            <a:xfrm>
              <a:off x="7924320" y="1117440"/>
              <a:ext cx="293940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Experimental triplet energy</a:t>
              </a:r>
              <a:endParaRPr b="0" lang="en-GB" sz="1800" spc="-1" strike="noStrike">
                <a:solidFill>
                  <a:srgbClr val="000000"/>
                </a:solidFill>
                <a:latin typeface="Arial"/>
              </a:endParaRPr>
            </a:p>
          </p:txBody>
        </p:sp>
        <p:sp>
          <p:nvSpPr>
            <p:cNvPr id="134" name="TextBox 16"/>
            <p:cNvSpPr/>
            <p:nvPr/>
          </p:nvSpPr>
          <p:spPr>
            <a:xfrm>
              <a:off x="7809480" y="1409760"/>
              <a:ext cx="150372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2250" spc="-1" strike="noStrike">
                  <a:solidFill>
                    <a:schemeClr val="dk1"/>
                  </a:solidFill>
                  <a:latin typeface="Aptos"/>
                  <a:ea typeface="Microsoft YaHei"/>
                </a:rPr>
                <a:t>269 kJ/mol</a:t>
              </a:r>
              <a:endParaRPr b="0" lang="en-GB" sz="2250" spc="-1" strike="noStrike">
                <a:solidFill>
                  <a:srgbClr val="000000"/>
                </a:solidFill>
                <a:latin typeface="Arial"/>
              </a:endParaRPr>
            </a:p>
          </p:txBody>
        </p:sp>
        <p:sp>
          <p:nvSpPr>
            <p:cNvPr id="135" name="TextBox 17"/>
            <p:cNvSpPr/>
            <p:nvPr/>
          </p:nvSpPr>
          <p:spPr>
            <a:xfrm>
              <a:off x="8168760" y="1727280"/>
              <a:ext cx="3333960" cy="2595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700" spc="-1" strike="noStrike">
                  <a:solidFill>
                    <a:schemeClr val="accent5"/>
                  </a:solidFill>
                  <a:latin typeface="Aptos"/>
                  <a:ea typeface="Microsoft YaHei"/>
                </a:rPr>
                <a:t>Irle et al., Nature Synthesis, 2026</a:t>
              </a:r>
              <a:endParaRPr b="0" lang="en-GB" sz="1700" spc="-1" strike="noStrike">
                <a:solidFill>
                  <a:srgbClr val="000000"/>
                </a:solidFill>
                <a:latin typeface="Arial"/>
              </a:endParaRPr>
            </a:p>
          </p:txBody>
        </p:sp>
      </p:grpSp>
      <p:grpSp>
        <p:nvGrpSpPr>
          <p:cNvPr id="136" name="c1"/>
          <p:cNvGrpSpPr/>
          <p:nvPr/>
        </p:nvGrpSpPr>
        <p:grpSpPr>
          <a:xfrm>
            <a:off x="952560" y="2933640"/>
            <a:ext cx="2133360" cy="2554560"/>
            <a:chOff x="952560" y="2933640"/>
            <a:chExt cx="2133360" cy="2554560"/>
          </a:xfrm>
        </p:grpSpPr>
        <p:sp>
          <p:nvSpPr>
            <p:cNvPr id="137" name="Freeform 19"/>
            <p:cNvSpPr/>
            <p:nvPr/>
          </p:nvSpPr>
          <p:spPr>
            <a:xfrm>
              <a:off x="1047600" y="3238560"/>
              <a:ext cx="1333080" cy="1618920"/>
            </a:xfrm>
            <a:prstGeom prst="can">
              <a:avLst>
                <a:gd name="adj" fmla="val 25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8" name="Freeform 20"/>
            <p:cNvSpPr/>
            <p:nvPr/>
          </p:nvSpPr>
          <p:spPr>
            <a:xfrm>
              <a:off x="952560" y="3143160"/>
              <a:ext cx="1333080" cy="1618920"/>
            </a:xfrm>
            <a:prstGeom prst="can">
              <a:avLst>
                <a:gd name="adj" fmla="val 25000"/>
              </a:avLst>
            </a:prstGeom>
            <a:solidFill>
              <a:schemeClr val="accent2"/>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39" name="TextBox 21"/>
            <p:cNvSpPr/>
            <p:nvPr/>
          </p:nvSpPr>
          <p:spPr>
            <a:xfrm>
              <a:off x="1365480" y="3809880"/>
              <a:ext cx="506880" cy="5032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3300" spc="-1" strike="noStrike">
                  <a:solidFill>
                    <a:schemeClr val="dk1"/>
                  </a:solidFill>
                  <a:latin typeface="Aptos"/>
                  <a:ea typeface="Microsoft YaHei"/>
                </a:rPr>
                <a:t>C1</a:t>
              </a:r>
              <a:endParaRPr b="0" lang="en-GB" sz="3300" spc="-1" strike="noStrike">
                <a:solidFill>
                  <a:srgbClr val="000000"/>
                </a:solidFill>
                <a:latin typeface="Arial"/>
              </a:endParaRPr>
            </a:p>
          </p:txBody>
        </p:sp>
        <p:sp>
          <p:nvSpPr>
            <p:cNvPr id="140" name="TextBox 22"/>
            <p:cNvSpPr/>
            <p:nvPr/>
          </p:nvSpPr>
          <p:spPr>
            <a:xfrm>
              <a:off x="1033200" y="4927680"/>
              <a:ext cx="117144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1800" spc="-1" strike="noStrike">
                  <a:solidFill>
                    <a:schemeClr val="dk1"/>
                  </a:solidFill>
                  <a:latin typeface="Aptos"/>
                  <a:ea typeface="Microsoft YaHei"/>
                </a:rPr>
                <a:t>63 records</a:t>
              </a:r>
              <a:endParaRPr b="0" lang="en-GB" sz="1800" spc="-1" strike="noStrike">
                <a:solidFill>
                  <a:srgbClr val="000000"/>
                </a:solidFill>
                <a:latin typeface="Arial"/>
              </a:endParaRPr>
            </a:p>
          </p:txBody>
        </p:sp>
        <p:sp>
          <p:nvSpPr>
            <p:cNvPr id="141" name="TextBox 23"/>
            <p:cNvSpPr/>
            <p:nvPr/>
          </p:nvSpPr>
          <p:spPr>
            <a:xfrm>
              <a:off x="1068480" y="5213520"/>
              <a:ext cx="110124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GB" sz="1800" spc="-1" strike="noStrike">
                  <a:solidFill>
                    <a:schemeClr val="accent5"/>
                  </a:solidFill>
                  <a:latin typeface="Consolas"/>
                  <a:ea typeface="Consolas"/>
                </a:rPr>
                <a:t>1.187 MB</a:t>
              </a:r>
              <a:endParaRPr b="0" lang="en-GB" sz="1800" spc="-1" strike="noStrike">
                <a:solidFill>
                  <a:srgbClr val="000000"/>
                </a:solidFill>
                <a:latin typeface="Arial"/>
              </a:endParaRPr>
            </a:p>
          </p:txBody>
        </p:sp>
        <p:grpSp>
          <p:nvGrpSpPr>
            <p:cNvPr id="142" name="Group 26"/>
            <p:cNvGrpSpPr/>
            <p:nvPr/>
          </p:nvGrpSpPr>
          <p:grpSpPr>
            <a:xfrm>
              <a:off x="2400120" y="2933640"/>
              <a:ext cx="685800" cy="1409760"/>
              <a:chOff x="2400120" y="2933640"/>
              <a:chExt cx="685800" cy="1409760"/>
            </a:xfrm>
          </p:grpSpPr>
          <p:sp>
            <p:nvSpPr>
              <p:cNvPr id="143" name="Line 24"/>
              <p:cNvSpPr/>
              <p:nvPr/>
            </p:nvSpPr>
            <p:spPr>
              <a:xfrm flipV="1">
                <a:off x="2400120" y="2933640"/>
                <a:ext cx="685800" cy="685800"/>
              </a:xfrm>
              <a:prstGeom prst="line">
                <a:avLst/>
              </a:prstGeom>
              <a:ln w="38160">
                <a:solidFill>
                  <a:schemeClr val="accent1"/>
                </a:solidFill>
                <a:round/>
                <a:tailEnd len="lg" type="triangle" w="lg"/>
              </a:ln>
            </p:spPr>
            <p:style>
              <a:lnRef idx="0"/>
              <a:fillRef idx="0"/>
              <a:effectRef idx="0"/>
              <a:fontRef idx="minor"/>
            </p:style>
            <p:txBody>
              <a:bodyPr lIns="90000" rIns="90000" tIns="45000" bIns="45000" anchor="t" anchorCtr="1">
                <a:noAutofit/>
              </a:bodyPr>
              <a:p>
                <a:endParaRPr b="0" lang="en-GB" sz="1800" spc="-1" strike="noStrike">
                  <a:solidFill>
                    <a:srgbClr val="000000"/>
                  </a:solidFill>
                  <a:latin typeface="Arial"/>
                </a:endParaRPr>
              </a:p>
            </p:txBody>
          </p:sp>
          <p:sp>
            <p:nvSpPr>
              <p:cNvPr id="144" name="Line 25"/>
              <p:cNvSpPr/>
              <p:nvPr/>
            </p:nvSpPr>
            <p:spPr>
              <a:xfrm>
                <a:off x="2400120" y="4190760"/>
                <a:ext cx="685800" cy="152640"/>
              </a:xfrm>
              <a:prstGeom prst="line">
                <a:avLst/>
              </a:prstGeom>
              <a:ln w="38160">
                <a:solidFill>
                  <a:schemeClr val="accent1"/>
                </a:solidFill>
                <a:round/>
                <a:tailEnd len="lg" type="triangle" w="lg"/>
              </a:ln>
            </p:spPr>
            <p:style>
              <a:lnRef idx="0"/>
              <a:fillRef idx="0"/>
              <a:effectRef idx="0"/>
              <a:fontRef idx="minor"/>
            </p:style>
            <p:txBody>
              <a:bodyPr lIns="90000" rIns="90000" tIns="45000" bIns="45000" anchor="t" anchorCtr="1">
                <a:noAutofit/>
              </a:bodyPr>
              <a:p>
                <a:endParaRPr b="0" lang="en-GB" sz="1800" spc="-1" strike="noStrike">
                  <a:solidFill>
                    <a:srgbClr val="000000"/>
                  </a:solidFill>
                  <a:latin typeface="Arial"/>
                </a:endParaRPr>
              </a:p>
            </p:txBody>
          </p:sp>
        </p:grpSp>
      </p:grpSp>
      <p:grpSp>
        <p:nvGrpSpPr>
          <p:cNvPr id="145" name="branch-claude"/>
          <p:cNvGrpSpPr/>
          <p:nvPr/>
        </p:nvGrpSpPr>
        <p:grpSpPr>
          <a:xfrm>
            <a:off x="3162240" y="2400480"/>
            <a:ext cx="4362120" cy="1104120"/>
            <a:chOff x="3162240" y="2400480"/>
            <a:chExt cx="4362120" cy="1104120"/>
          </a:xfrm>
        </p:grpSpPr>
        <p:sp>
          <p:nvSpPr>
            <p:cNvPr id="146" name="Rectangle 28"/>
            <p:cNvSpPr/>
            <p:nvPr/>
          </p:nvSpPr>
          <p:spPr>
            <a:xfrm>
              <a:off x="3219480" y="2457360"/>
              <a:ext cx="4304880" cy="1047240"/>
            </a:xfrm>
            <a:prstGeom prst="roundRect">
              <a:avLst>
                <a:gd name="adj" fmla="val 12727"/>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47" name="Rectangle 29"/>
            <p:cNvSpPr/>
            <p:nvPr/>
          </p:nvSpPr>
          <p:spPr>
            <a:xfrm>
              <a:off x="3162240" y="2400480"/>
              <a:ext cx="4304880" cy="1047240"/>
            </a:xfrm>
            <a:prstGeom prst="roundRect">
              <a:avLst>
                <a:gd name="adj" fmla="val 12727"/>
              </a:avLst>
            </a:prstGeom>
            <a:solidFill>
              <a:schemeClr val="accent3"/>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48" name="Freeform 30"/>
            <p:cNvSpPr/>
            <p:nvPr/>
          </p:nvSpPr>
          <p:spPr>
            <a:xfrm>
              <a:off x="6981840" y="2600640"/>
              <a:ext cx="285480" cy="189720"/>
            </a:xfrm>
            <a:custGeom>
              <a:avLst/>
              <a:gdLst>
                <a:gd name="textAreaLeft" fmla="*/ 0 w 285480"/>
                <a:gd name="textAreaRight" fmla="*/ 285840 w 285480"/>
                <a:gd name="textAreaTop" fmla="*/ 0 h 189720"/>
                <a:gd name="textAreaBottom" fmla="*/ 190080 h 189720"/>
              </a:gdLst>
              <a:ahLst/>
              <a:rect l="textAreaLeft" t="textAreaTop" r="textAreaRight" b="textAreaBottom"/>
              <a:pathLst>
                <a:path w="285750" h="190224">
                  <a:moveTo>
                    <a:pt x="66537" y="190167"/>
                  </a:moveTo>
                  <a:cubicBezTo>
                    <a:pt x="29789" y="190167"/>
                    <a:pt x="0" y="161492"/>
                    <a:pt x="0" y="126116"/>
                  </a:cubicBezTo>
                  <a:cubicBezTo>
                    <a:pt x="0" y="90754"/>
                    <a:pt x="29789" y="62079"/>
                    <a:pt x="66537" y="62079"/>
                  </a:cubicBezTo>
                  <a:cubicBezTo>
                    <a:pt x="72152" y="36905"/>
                    <a:pt x="92169" y="16359"/>
                    <a:pt x="119043" y="8172"/>
                  </a:cubicBezTo>
                  <a:cubicBezTo>
                    <a:pt x="145904" y="0"/>
                    <a:pt x="175565" y="5415"/>
                    <a:pt x="196825" y="22460"/>
                  </a:cubicBezTo>
                  <a:cubicBezTo>
                    <a:pt x="218084" y="39462"/>
                    <a:pt x="227714" y="65422"/>
                    <a:pt x="222113" y="90597"/>
                  </a:cubicBezTo>
                  <a:lnTo>
                    <a:pt x="236258" y="90597"/>
                  </a:lnTo>
                  <a:cubicBezTo>
                    <a:pt x="263590" y="90597"/>
                    <a:pt x="285750" y="112886"/>
                    <a:pt x="285750" y="140403"/>
                  </a:cubicBezTo>
                  <a:cubicBezTo>
                    <a:pt x="285750" y="167935"/>
                    <a:pt x="263590" y="190224"/>
                    <a:pt x="236244" y="190224"/>
                  </a:cubicBezTo>
                  <a:lnTo>
                    <a:pt x="66537" y="190224"/>
                  </a:ln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49" name="TextBox 31"/>
            <p:cNvSpPr/>
            <p:nvPr/>
          </p:nvSpPr>
          <p:spPr>
            <a:xfrm>
              <a:off x="3521160" y="2571840"/>
              <a:ext cx="325800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2250" spc="-1" strike="noStrike">
                  <a:solidFill>
                    <a:schemeClr val="dk1"/>
                  </a:solidFill>
                  <a:latin typeface="Aptos"/>
                  <a:ea typeface="Microsoft YaHei"/>
                </a:rPr>
                <a:t>Claude Code / Opus 5.5</a:t>
              </a:r>
              <a:endParaRPr b="0" lang="en-GB" sz="2250" spc="-1" strike="noStrike">
                <a:solidFill>
                  <a:srgbClr val="000000"/>
                </a:solidFill>
                <a:latin typeface="Arial"/>
              </a:endParaRPr>
            </a:p>
          </p:txBody>
        </p:sp>
        <p:sp>
          <p:nvSpPr>
            <p:cNvPr id="150" name="TextBox 32"/>
            <p:cNvSpPr/>
            <p:nvPr/>
          </p:nvSpPr>
          <p:spPr>
            <a:xfrm>
              <a:off x="3458520" y="3003480"/>
              <a:ext cx="196704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continues from C1</a:t>
              </a:r>
              <a:endParaRPr b="0" lang="en-GB" sz="1800" spc="-1" strike="noStrike">
                <a:solidFill>
                  <a:srgbClr val="000000"/>
                </a:solidFill>
                <a:latin typeface="Arial"/>
              </a:endParaRPr>
            </a:p>
          </p:txBody>
        </p:sp>
      </p:grpSp>
      <p:grpSp>
        <p:nvGrpSpPr>
          <p:cNvPr id="151" name="branch-qwen"/>
          <p:cNvGrpSpPr/>
          <p:nvPr/>
        </p:nvGrpSpPr>
        <p:grpSpPr>
          <a:xfrm>
            <a:off x="3162240" y="3828960"/>
            <a:ext cx="4362120" cy="1449360"/>
            <a:chOff x="3162240" y="3828960"/>
            <a:chExt cx="4362120" cy="1449360"/>
          </a:xfrm>
        </p:grpSpPr>
        <p:sp>
          <p:nvSpPr>
            <p:cNvPr id="152" name="Rectangle 34"/>
            <p:cNvSpPr/>
            <p:nvPr/>
          </p:nvSpPr>
          <p:spPr>
            <a:xfrm>
              <a:off x="3219480" y="3886200"/>
              <a:ext cx="4304880" cy="1047240"/>
            </a:xfrm>
            <a:prstGeom prst="roundRect">
              <a:avLst>
                <a:gd name="adj" fmla="val 12727"/>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3" name="Rectangle 35"/>
            <p:cNvSpPr/>
            <p:nvPr/>
          </p:nvSpPr>
          <p:spPr>
            <a:xfrm>
              <a:off x="3162240" y="3828960"/>
              <a:ext cx="4304880" cy="1047240"/>
            </a:xfrm>
            <a:prstGeom prst="roundRect">
              <a:avLst>
                <a:gd name="adj" fmla="val 12727"/>
              </a:avLst>
            </a:prstGeom>
            <a:solidFill>
              <a:schemeClr val="accent3"/>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nvGrpSpPr>
            <p:cNvPr id="154" name="Group 40"/>
            <p:cNvGrpSpPr/>
            <p:nvPr/>
          </p:nvGrpSpPr>
          <p:grpSpPr>
            <a:xfrm>
              <a:off x="7020000" y="3960000"/>
              <a:ext cx="256680" cy="237600"/>
              <a:chOff x="7020000" y="3960000"/>
              <a:chExt cx="256680" cy="237600"/>
            </a:xfrm>
          </p:grpSpPr>
          <p:sp>
            <p:nvSpPr>
              <p:cNvPr id="155" name="Freeform 36"/>
              <p:cNvSpPr/>
              <p:nvPr/>
            </p:nvSpPr>
            <p:spPr>
              <a:xfrm>
                <a:off x="7020000" y="3960000"/>
                <a:ext cx="256680" cy="171000"/>
              </a:xfrm>
              <a:custGeom>
                <a:avLst/>
                <a:gdLst>
                  <a:gd name="textAreaLeft" fmla="*/ 0 w 256680"/>
                  <a:gd name="textAreaRight" fmla="*/ 257040 w 256680"/>
                  <a:gd name="textAreaTop" fmla="*/ 0 h 171000"/>
                  <a:gd name="textAreaBottom" fmla="*/ 171360 h 171000"/>
                </a:gdLst>
                <a:ahLst/>
                <a:rect l="textAreaLeft" t="textAreaTop" r="textAreaRight" b="textAreaBottom"/>
                <a:pathLst>
                  <a:path w="257175" h="171450">
                    <a:moveTo>
                      <a:pt x="0" y="14288"/>
                    </a:moveTo>
                    <a:cubicBezTo>
                      <a:pt x="0" y="6397"/>
                      <a:pt x="6397" y="0"/>
                      <a:pt x="14288" y="0"/>
                    </a:cubicBezTo>
                    <a:lnTo>
                      <a:pt x="242888" y="0"/>
                    </a:lnTo>
                    <a:cubicBezTo>
                      <a:pt x="250778" y="0"/>
                      <a:pt x="257175" y="6397"/>
                      <a:pt x="257175" y="14288"/>
                    </a:cubicBezTo>
                    <a:lnTo>
                      <a:pt x="257175" y="157162"/>
                    </a:lnTo>
                    <a:cubicBezTo>
                      <a:pt x="257175" y="165053"/>
                      <a:pt x="250778" y="171450"/>
                      <a:pt x="242888" y="171450"/>
                    </a:cubicBezTo>
                    <a:lnTo>
                      <a:pt x="14288" y="171450"/>
                    </a:lnTo>
                    <a:cubicBezTo>
                      <a:pt x="6397" y="171450"/>
                      <a:pt x="0" y="165053"/>
                      <a:pt x="0" y="157162"/>
                    </a:cubicBezTo>
                    <a:lnTo>
                      <a:pt x="0" y="14288"/>
                    </a:ln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56" name="Freeform 37"/>
              <p:cNvSpPr/>
              <p:nvPr/>
            </p:nvSpPr>
            <p:spPr>
              <a:xfrm>
                <a:off x="7077240" y="4188600"/>
                <a:ext cx="142560" cy="9000"/>
              </a:xfrm>
              <a:custGeom>
                <a:avLst/>
                <a:gdLst>
                  <a:gd name="textAreaLeft" fmla="*/ 0 w 142560"/>
                  <a:gd name="textAreaRight" fmla="*/ 142920 w 142560"/>
                  <a:gd name="textAreaTop" fmla="*/ 0 h 9000"/>
                  <a:gd name="textAreaBottom" fmla="*/ 9360 h 9000"/>
                </a:gdLst>
                <a:ahLst/>
                <a:rect l="textAreaLeft" t="textAreaTop" r="textAreaRight" b="textAreaBottom"/>
                <a:pathLst>
                  <a:path w="142875" h="9525">
                    <a:moveTo>
                      <a:pt x="0" y="0"/>
                    </a:moveTo>
                    <a:lnTo>
                      <a:pt x="142875"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157" name="Freeform 38"/>
              <p:cNvSpPr/>
              <p:nvPr/>
            </p:nvSpPr>
            <p:spPr>
              <a:xfrm>
                <a:off x="7105680" y="4131720"/>
                <a:ext cx="9000" cy="56880"/>
              </a:xfrm>
              <a:custGeom>
                <a:avLst/>
                <a:gdLst>
                  <a:gd name="textAreaLeft" fmla="*/ 0 w 9000"/>
                  <a:gd name="textAreaRight" fmla="*/ 9360 w 9000"/>
                  <a:gd name="textAreaTop" fmla="*/ 0 h 56880"/>
                  <a:gd name="textAreaBottom" fmla="*/ 57240 h 56880"/>
                </a:gdLst>
                <a:ahLst/>
                <a:rect l="textAreaLeft" t="textAreaTop" r="textAreaRight" b="textAreaBottom"/>
                <a:pathLst>
                  <a:path w="9525" h="57150">
                    <a:moveTo>
                      <a:pt x="0" y="0"/>
                    </a:moveTo>
                    <a:lnTo>
                      <a:pt x="0" y="57150"/>
                    </a:lnTo>
                  </a:path>
                </a:pathLst>
              </a:custGeom>
              <a:noFill/>
              <a:ln w="28440">
                <a:solidFill>
                  <a:schemeClr val="accent1"/>
                </a:solidFill>
                <a:round/>
              </a:ln>
            </p:spPr>
            <p:style>
              <a:lnRef idx="0"/>
              <a:fillRef idx="0"/>
              <a:effectRef idx="0"/>
              <a:fontRef idx="minor"/>
            </p:style>
            <p:txBody>
              <a:bodyPr lIns="90000" rIns="90000" tIns="12240" bIns="12240" anchor="t">
                <a:noAutofit/>
              </a:bodyPr>
              <a:p>
                <a:endParaRPr b="0" lang="en-GB" sz="1800" spc="-1" strike="noStrike">
                  <a:solidFill>
                    <a:srgbClr val="000000"/>
                  </a:solidFill>
                  <a:latin typeface="Arial"/>
                </a:endParaRPr>
              </a:p>
            </p:txBody>
          </p:sp>
          <p:sp>
            <p:nvSpPr>
              <p:cNvPr id="158" name="Freeform 39"/>
              <p:cNvSpPr/>
              <p:nvPr/>
            </p:nvSpPr>
            <p:spPr>
              <a:xfrm>
                <a:off x="7191360" y="4131720"/>
                <a:ext cx="9000" cy="56880"/>
              </a:xfrm>
              <a:custGeom>
                <a:avLst/>
                <a:gdLst>
                  <a:gd name="textAreaLeft" fmla="*/ 0 w 9000"/>
                  <a:gd name="textAreaRight" fmla="*/ 9360 w 9000"/>
                  <a:gd name="textAreaTop" fmla="*/ 0 h 56880"/>
                  <a:gd name="textAreaBottom" fmla="*/ 57240 h 56880"/>
                </a:gdLst>
                <a:ahLst/>
                <a:rect l="textAreaLeft" t="textAreaTop" r="textAreaRight" b="textAreaBottom"/>
                <a:pathLst>
                  <a:path w="9525" h="57150">
                    <a:moveTo>
                      <a:pt x="0" y="0"/>
                    </a:moveTo>
                    <a:lnTo>
                      <a:pt x="0" y="57150"/>
                    </a:lnTo>
                  </a:path>
                </a:pathLst>
              </a:custGeom>
              <a:noFill/>
              <a:ln w="28440">
                <a:solidFill>
                  <a:schemeClr val="accent1"/>
                </a:solidFill>
                <a:round/>
              </a:ln>
            </p:spPr>
            <p:style>
              <a:lnRef idx="0"/>
              <a:fillRef idx="0"/>
              <a:effectRef idx="0"/>
              <a:fontRef idx="minor"/>
            </p:style>
            <p:txBody>
              <a:bodyPr lIns="90000" rIns="90000" tIns="12240" bIns="12240" anchor="t">
                <a:noAutofit/>
              </a:bodyPr>
              <a:p>
                <a:endParaRPr b="0" lang="en-GB" sz="1800" spc="-1" strike="noStrike">
                  <a:solidFill>
                    <a:srgbClr val="000000"/>
                  </a:solidFill>
                  <a:latin typeface="Arial"/>
                </a:endParaRPr>
              </a:p>
            </p:txBody>
          </p:sp>
        </p:grpSp>
        <p:sp>
          <p:nvSpPr>
            <p:cNvPr id="159" name="TextBox 41"/>
            <p:cNvSpPr/>
            <p:nvPr/>
          </p:nvSpPr>
          <p:spPr>
            <a:xfrm>
              <a:off x="3516480" y="3976560"/>
              <a:ext cx="332352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2250" spc="-1" strike="noStrike">
                  <a:solidFill>
                    <a:schemeClr val="dk1"/>
                  </a:solidFill>
                  <a:latin typeface="Aptos"/>
                  <a:ea typeface="Microsoft YaHei"/>
                </a:rPr>
                <a:t>OpenCode / local Qwen</a:t>
              </a:r>
              <a:endParaRPr b="0" lang="en-GB" sz="2250" spc="-1" strike="noStrike">
                <a:solidFill>
                  <a:srgbClr val="000000"/>
                </a:solidFill>
                <a:latin typeface="Arial"/>
              </a:endParaRPr>
            </a:p>
          </p:txBody>
        </p:sp>
        <p:sp>
          <p:nvSpPr>
            <p:cNvPr id="160" name="TextBox 42"/>
            <p:cNvSpPr/>
            <p:nvPr/>
          </p:nvSpPr>
          <p:spPr>
            <a:xfrm>
              <a:off x="3450240" y="4432320"/>
              <a:ext cx="226260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C1 + runtime capsule</a:t>
              </a:r>
              <a:endParaRPr b="0" lang="en-GB" sz="1800" spc="-1" strike="noStrike">
                <a:solidFill>
                  <a:srgbClr val="000000"/>
                </a:solidFill>
                <a:latin typeface="Arial"/>
              </a:endParaRPr>
            </a:p>
          </p:txBody>
        </p:sp>
        <p:sp>
          <p:nvSpPr>
            <p:cNvPr id="161" name="TextBox 45"/>
            <p:cNvSpPr/>
            <p:nvPr/>
          </p:nvSpPr>
          <p:spPr>
            <a:xfrm>
              <a:off x="4337640" y="5003640"/>
              <a:ext cx="3018600" cy="2746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GB" sz="1800" spc="-1" strike="noStrike">
                  <a:solidFill>
                    <a:schemeClr val="accent5"/>
                  </a:solidFill>
                  <a:latin typeface="Aptos"/>
                  <a:ea typeface="Microsoft YaHei"/>
                </a:rPr>
                <a:t>runtime capsule · </a:t>
              </a:r>
              <a:r>
                <a:rPr b="0" lang="en-GB" sz="1800" spc="-1" strike="noStrike">
                  <a:solidFill>
                    <a:schemeClr val="accent5"/>
                  </a:solidFill>
                  <a:latin typeface="Consolas"/>
                  <a:ea typeface="Consolas"/>
                </a:rPr>
                <a:t>28.35 kB</a:t>
              </a:r>
              <a:endParaRPr b="0" lang="en-GB" sz="1800" spc="-1" strike="noStrike">
                <a:solidFill>
                  <a:srgbClr val="000000"/>
                </a:solidFill>
                <a:latin typeface="Arial"/>
              </a:endParaRPr>
            </a:p>
          </p:txBody>
        </p:sp>
      </p:grpSp>
      <p:grpSp>
        <p:nvGrpSpPr>
          <p:cNvPr id="162" name="shared-evidence"/>
          <p:cNvGrpSpPr/>
          <p:nvPr/>
        </p:nvGrpSpPr>
        <p:grpSpPr>
          <a:xfrm>
            <a:off x="7658280" y="2381400"/>
            <a:ext cx="3924000" cy="3180600"/>
            <a:chOff x="7658280" y="2381400"/>
            <a:chExt cx="3924000" cy="3180600"/>
          </a:xfrm>
        </p:grpSpPr>
        <p:sp>
          <p:nvSpPr>
            <p:cNvPr id="163" name="Freeform 47"/>
            <p:cNvSpPr/>
            <p:nvPr/>
          </p:nvSpPr>
          <p:spPr>
            <a:xfrm>
              <a:off x="7658280" y="2400480"/>
              <a:ext cx="247320" cy="2457000"/>
            </a:xfrm>
            <a:prstGeom prst="rightBrace">
              <a:avLst>
                <a:gd name="adj1" fmla="val 8333"/>
                <a:gd name="adj2" fmla="val 50000"/>
              </a:avLst>
            </a:prstGeom>
            <a:no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64" name="Rectangle 48"/>
            <p:cNvSpPr/>
            <p:nvPr/>
          </p:nvSpPr>
          <p:spPr>
            <a:xfrm>
              <a:off x="8115480" y="2457360"/>
              <a:ext cx="3466800" cy="3104640"/>
            </a:xfrm>
            <a:prstGeom prst="roundRect">
              <a:avLst>
                <a:gd name="adj" fmla="val 4294"/>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65" name="Rectangle 49"/>
            <p:cNvSpPr/>
            <p:nvPr/>
          </p:nvSpPr>
          <p:spPr>
            <a:xfrm>
              <a:off x="8039160" y="2381400"/>
              <a:ext cx="3466800" cy="3104640"/>
            </a:xfrm>
            <a:prstGeom prst="roundRect">
              <a:avLst>
                <a:gd name="adj" fmla="val 4294"/>
              </a:avLst>
            </a:prstGeom>
            <a:solidFill>
              <a:srgbClr val="ffffff"/>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66" name="TextBox 50"/>
            <p:cNvSpPr/>
            <p:nvPr/>
          </p:nvSpPr>
          <p:spPr>
            <a:xfrm>
              <a:off x="8298000" y="2508120"/>
              <a:ext cx="138492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accent5"/>
                  </a:solidFill>
                  <a:latin typeface="Aptos"/>
                  <a:ea typeface="Microsoft YaHei"/>
                </a:rPr>
                <a:t>Both agents</a:t>
              </a:r>
              <a:endParaRPr b="0" lang="en-GB" sz="1800" spc="-1" strike="noStrike">
                <a:solidFill>
                  <a:srgbClr val="000000"/>
                </a:solidFill>
                <a:latin typeface="Arial"/>
              </a:endParaRPr>
            </a:p>
          </p:txBody>
        </p:sp>
        <p:sp>
          <p:nvSpPr>
            <p:cNvPr id="167" name="Freeform 51"/>
            <p:cNvSpPr/>
            <p:nvPr/>
          </p:nvSpPr>
          <p:spPr>
            <a:xfrm>
              <a:off x="8282160" y="2995560"/>
              <a:ext cx="213840" cy="142560"/>
            </a:xfrm>
            <a:custGeom>
              <a:avLst/>
              <a:gdLst>
                <a:gd name="textAreaLeft" fmla="*/ 0 w 213840"/>
                <a:gd name="textAreaRight" fmla="*/ 214200 w 213840"/>
                <a:gd name="textAreaTop" fmla="*/ 0 h 142560"/>
                <a:gd name="textAreaBottom" fmla="*/ 142920 h 142560"/>
              </a:gdLst>
              <a:ahLst/>
              <a:rect l="textAreaLeft" t="textAreaTop" r="textAreaRight" b="textAreaBottom"/>
              <a:pathLst>
                <a:path w="214312" h="142875">
                  <a:moveTo>
                    <a:pt x="0" y="71438"/>
                  </a:moveTo>
                  <a:lnTo>
                    <a:pt x="71438" y="142875"/>
                  </a:lnTo>
                  <a:lnTo>
                    <a:pt x="214312" y="0"/>
                  </a:lnTo>
                </a:path>
              </a:pathLst>
            </a:custGeom>
            <a:noFill/>
            <a:ln w="42840">
              <a:solidFill>
                <a:schemeClr val="accent2"/>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68" name="TextBox 52"/>
            <p:cNvSpPr/>
            <p:nvPr/>
          </p:nvSpPr>
          <p:spPr>
            <a:xfrm>
              <a:off x="8624160" y="2876400"/>
              <a:ext cx="2262960" cy="686520"/>
            </a:xfrm>
            <a:prstGeom prst="rect">
              <a:avLst/>
            </a:prstGeom>
            <a:noFill/>
            <a:ln w="0">
              <a:noFill/>
            </a:ln>
          </p:spPr>
          <p:style>
            <a:lnRef idx="0"/>
            <a:fillRef idx="0"/>
            <a:effectRef idx="0"/>
            <a:fontRef idx="minor"/>
          </p:style>
          <p:txBody>
            <a:bodyPr wrap="none" lIns="0" rIns="0" tIns="0" bIns="0" anchor="t">
              <a:spAutoFit/>
            </a:bodyPr>
            <a:p>
              <a:pPr defTabSz="457200">
                <a:lnSpc>
                  <a:spcPts val="2701"/>
                </a:lnSpc>
              </a:pPr>
              <a:r>
                <a:rPr b="0" lang="en-GB" sz="2250" spc="-1" strike="noStrike">
                  <a:solidFill>
                    <a:schemeClr val="dk1"/>
                  </a:solidFill>
                  <a:latin typeface="Aptos"/>
                  <a:ea typeface="Microsoft YaHei"/>
                </a:rPr>
                <a:t>Same parsed</a:t>
              </a:r>
              <a:br>
                <a:rPr sz="2250"/>
              </a:br>
              <a:r>
                <a:rPr b="0" lang="en-GB" sz="2250" spc="-1" strike="noStrike">
                  <a:solidFill>
                    <a:schemeClr val="dk1"/>
                  </a:solidFill>
                  <a:latin typeface="Aptos"/>
                  <a:ea typeface="Microsoft YaHei"/>
                </a:rPr>
                <a:t>PBE/NLCC inputs</a:t>
              </a:r>
              <a:endParaRPr b="0" lang="en-GB" sz="2250" spc="-1" strike="noStrike">
                <a:solidFill>
                  <a:srgbClr val="000000"/>
                </a:solidFill>
                <a:latin typeface="Arial"/>
              </a:endParaRPr>
            </a:p>
          </p:txBody>
        </p:sp>
        <p:sp>
          <p:nvSpPr>
            <p:cNvPr id="169" name="Line 53"/>
            <p:cNvSpPr/>
            <p:nvPr/>
          </p:nvSpPr>
          <p:spPr>
            <a:xfrm>
              <a:off x="8248680" y="3772080"/>
              <a:ext cx="3047760" cy="9000"/>
            </a:xfrm>
            <a:custGeom>
              <a:avLst/>
              <a:gdLst>
                <a:gd name="textAreaLeft" fmla="*/ 0 w 3047760"/>
                <a:gd name="textAreaRight" fmla="*/ 3048120 w 3047760"/>
                <a:gd name="textAreaTop" fmla="*/ 0 h 9000"/>
                <a:gd name="textAreaBottom" fmla="*/ 9360 h 9000"/>
              </a:gdLst>
              <a:ahLst/>
              <a:rect l="textAreaLeft" t="textAreaTop" r="textAreaRight" b="textAreaBottom"/>
              <a:pathLst>
                <a:path w="3048000" h="9525">
                  <a:moveTo>
                    <a:pt x="0" y="0"/>
                  </a:moveTo>
                  <a:lnTo>
                    <a:pt x="3048000" y="0"/>
                  </a:lnTo>
                </a:path>
              </a:pathLst>
            </a:custGeom>
            <a:noFill/>
            <a:ln w="19080">
              <a:solidFill>
                <a:schemeClr val="accent6"/>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170" name="Freeform 54"/>
            <p:cNvSpPr/>
            <p:nvPr/>
          </p:nvSpPr>
          <p:spPr>
            <a:xfrm>
              <a:off x="8282160" y="4100400"/>
              <a:ext cx="213840" cy="142560"/>
            </a:xfrm>
            <a:custGeom>
              <a:avLst/>
              <a:gdLst>
                <a:gd name="textAreaLeft" fmla="*/ 0 w 213840"/>
                <a:gd name="textAreaRight" fmla="*/ 214200 w 213840"/>
                <a:gd name="textAreaTop" fmla="*/ 0 h 142560"/>
                <a:gd name="textAreaBottom" fmla="*/ 142920 h 142560"/>
              </a:gdLst>
              <a:ahLst/>
              <a:rect l="textAreaLeft" t="textAreaTop" r="textAreaRight" b="textAreaBottom"/>
              <a:pathLst>
                <a:path w="214312" h="142875">
                  <a:moveTo>
                    <a:pt x="0" y="71438"/>
                  </a:moveTo>
                  <a:lnTo>
                    <a:pt x="71438" y="142875"/>
                  </a:lnTo>
                  <a:lnTo>
                    <a:pt x="214312" y="0"/>
                  </a:lnTo>
                </a:path>
              </a:pathLst>
            </a:custGeom>
            <a:noFill/>
            <a:ln w="42840">
              <a:solidFill>
                <a:schemeClr val="accent2"/>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71" name="TextBox 55"/>
            <p:cNvSpPr/>
            <p:nvPr/>
          </p:nvSpPr>
          <p:spPr>
            <a:xfrm>
              <a:off x="8754120" y="4000680"/>
              <a:ext cx="222156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2250" spc="-1" strike="noStrike">
                  <a:solidFill>
                    <a:schemeClr val="dk1"/>
                  </a:solidFill>
                  <a:latin typeface="Aptos"/>
                  <a:ea typeface="Microsoft YaHei"/>
                </a:rPr>
                <a:t>Same triplet gap</a:t>
              </a:r>
              <a:endParaRPr b="0" lang="en-GB" sz="2250" spc="-1" strike="noStrike">
                <a:solidFill>
                  <a:srgbClr val="000000"/>
                </a:solidFill>
                <a:latin typeface="Arial"/>
              </a:endParaRPr>
            </a:p>
          </p:txBody>
        </p:sp>
        <p:sp>
          <p:nvSpPr>
            <p:cNvPr id="172" name="TextBox 56"/>
            <p:cNvSpPr/>
            <p:nvPr/>
          </p:nvSpPr>
          <p:spPr>
            <a:xfrm>
              <a:off x="8454960" y="4362480"/>
              <a:ext cx="2688120" cy="640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4200" spc="-1" strike="noStrike">
                  <a:solidFill>
                    <a:schemeClr val="dk1"/>
                  </a:solidFill>
                  <a:latin typeface="Aptos"/>
                  <a:ea typeface="Microsoft YaHei"/>
                </a:rPr>
                <a:t>241.21</a:t>
              </a:r>
              <a:r>
                <a:rPr b="1" lang="en-GB" sz="2250" spc="-1" strike="noStrike">
                  <a:solidFill>
                    <a:schemeClr val="dk1"/>
                  </a:solidFill>
                  <a:latin typeface="Aptos"/>
                  <a:ea typeface="Microsoft YaHei"/>
                </a:rPr>
                <a:t> kJ/mol</a:t>
              </a:r>
              <a:endParaRPr b="0" lang="en-GB" sz="2250" spc="-1" strike="noStrike">
                <a:solidFill>
                  <a:srgbClr val="000000"/>
                </a:solidFill>
                <a:latin typeface="Arial"/>
              </a:endParaRPr>
            </a:p>
          </p:txBody>
        </p:sp>
        <p:sp>
          <p:nvSpPr>
            <p:cNvPr id="173" name="TextBox 57"/>
            <p:cNvSpPr/>
            <p:nvPr/>
          </p:nvSpPr>
          <p:spPr>
            <a:xfrm>
              <a:off x="8331120" y="5022720"/>
              <a:ext cx="28828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accent5"/>
                  </a:solidFill>
                  <a:latin typeface="Aptos"/>
                  <a:ea typeface="Microsoft YaHei"/>
                </a:rPr>
                <a:t>Thioxanthone calibration</a:t>
              </a:r>
              <a:endParaRPr b="0" lang="en-GB" sz="1800" spc="-1" strike="noStrike">
                <a:solidFill>
                  <a:srgbClr val="000000"/>
                </a:solidFill>
                <a:latin typeface="Arial"/>
              </a:endParaRPr>
            </a:p>
          </p:txBody>
        </p:sp>
      </p:grpSp>
      <p:grpSp>
        <p:nvGrpSpPr>
          <p:cNvPr id="174" name="tool-roles"/>
          <p:cNvGrpSpPr/>
          <p:nvPr/>
        </p:nvGrpSpPr>
        <p:grpSpPr>
          <a:xfrm>
            <a:off x="762120" y="5772240"/>
            <a:ext cx="10820160" cy="666360"/>
            <a:chOff x="762120" y="5772240"/>
            <a:chExt cx="10820160" cy="666360"/>
          </a:xfrm>
        </p:grpSpPr>
        <p:grpSp>
          <p:nvGrpSpPr>
            <p:cNvPr id="175" name="Group 63"/>
            <p:cNvGrpSpPr/>
            <p:nvPr/>
          </p:nvGrpSpPr>
          <p:grpSpPr>
            <a:xfrm>
              <a:off x="762120" y="5772240"/>
              <a:ext cx="10820160" cy="666360"/>
              <a:chOff x="762120" y="5772240"/>
              <a:chExt cx="10820160" cy="666360"/>
            </a:xfrm>
          </p:grpSpPr>
          <p:sp>
            <p:nvSpPr>
              <p:cNvPr id="176" name="Rectangle 59"/>
              <p:cNvSpPr/>
              <p:nvPr/>
            </p:nvSpPr>
            <p:spPr>
              <a:xfrm>
                <a:off x="762120" y="5772240"/>
                <a:ext cx="2590560" cy="666360"/>
              </a:xfrm>
              <a:prstGeom prst="roundRect">
                <a:avLst>
                  <a:gd name="adj" fmla="val 17143"/>
                </a:avLst>
              </a:prstGeom>
              <a:solidFill>
                <a:schemeClr val="lt2"/>
              </a:solidFill>
              <a:ln w="1908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77" name="Rectangle 60"/>
              <p:cNvSpPr/>
              <p:nvPr/>
            </p:nvSpPr>
            <p:spPr>
              <a:xfrm>
                <a:off x="3505320" y="5772240"/>
                <a:ext cx="2590560" cy="666360"/>
              </a:xfrm>
              <a:prstGeom prst="roundRect">
                <a:avLst>
                  <a:gd name="adj" fmla="val 17143"/>
                </a:avLst>
              </a:prstGeom>
              <a:solidFill>
                <a:schemeClr val="lt2"/>
              </a:solidFill>
              <a:ln w="1908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78" name="Rectangle 61"/>
              <p:cNvSpPr/>
              <p:nvPr/>
            </p:nvSpPr>
            <p:spPr>
              <a:xfrm>
                <a:off x="6248520" y="5772240"/>
                <a:ext cx="2590560" cy="666360"/>
              </a:xfrm>
              <a:prstGeom prst="roundRect">
                <a:avLst>
                  <a:gd name="adj" fmla="val 17143"/>
                </a:avLst>
              </a:prstGeom>
              <a:solidFill>
                <a:schemeClr val="lt2"/>
              </a:solidFill>
              <a:ln w="1908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79" name="Rectangle 62"/>
              <p:cNvSpPr/>
              <p:nvPr/>
            </p:nvSpPr>
            <p:spPr>
              <a:xfrm>
                <a:off x="8991720" y="5772240"/>
                <a:ext cx="2590560" cy="666360"/>
              </a:xfrm>
              <a:prstGeom prst="roundRect">
                <a:avLst>
                  <a:gd name="adj" fmla="val 17143"/>
                </a:avLst>
              </a:prstGeom>
              <a:solidFill>
                <a:schemeClr val="lt2"/>
              </a:solidFill>
              <a:ln w="1908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grpSp>
          <p:nvGrpSpPr>
            <p:cNvPr id="180" name="Group 72"/>
            <p:cNvGrpSpPr/>
            <p:nvPr/>
          </p:nvGrpSpPr>
          <p:grpSpPr>
            <a:xfrm>
              <a:off x="969840" y="5832360"/>
              <a:ext cx="10301400" cy="551160"/>
              <a:chOff x="969840" y="5832360"/>
              <a:chExt cx="10301400" cy="551160"/>
            </a:xfrm>
          </p:grpSpPr>
          <p:sp>
            <p:nvSpPr>
              <p:cNvPr id="181" name="TextBox 64"/>
              <p:cNvSpPr/>
              <p:nvPr/>
            </p:nvSpPr>
            <p:spPr>
              <a:xfrm>
                <a:off x="969840" y="5832360"/>
                <a:ext cx="148392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dk1"/>
                    </a:solidFill>
                    <a:latin typeface="Aptos"/>
                    <a:ea typeface="Microsoft YaHei"/>
                  </a:rPr>
                  <a:t>Paper2Agent</a:t>
                </a:r>
                <a:endParaRPr b="0" lang="en-GB" sz="1800" spc="-1" strike="noStrike">
                  <a:solidFill>
                    <a:srgbClr val="000000"/>
                  </a:solidFill>
                  <a:latin typeface="Arial"/>
                </a:endParaRPr>
              </a:p>
            </p:txBody>
          </p:sp>
          <p:sp>
            <p:nvSpPr>
              <p:cNvPr id="182" name="TextBox 65"/>
              <p:cNvSpPr/>
              <p:nvPr/>
            </p:nvSpPr>
            <p:spPr>
              <a:xfrm>
                <a:off x="994680" y="6108840"/>
                <a:ext cx="110124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paper skill</a:t>
                </a:r>
                <a:endParaRPr b="0" lang="en-GB" sz="1800" spc="-1" strike="noStrike">
                  <a:solidFill>
                    <a:srgbClr val="000000"/>
                  </a:solidFill>
                  <a:latin typeface="Arial"/>
                </a:endParaRPr>
              </a:p>
            </p:txBody>
          </p:sp>
          <p:sp>
            <p:nvSpPr>
              <p:cNvPr id="183" name="TextBox 66"/>
              <p:cNvSpPr/>
              <p:nvPr/>
            </p:nvSpPr>
            <p:spPr>
              <a:xfrm>
                <a:off x="3681720" y="5832360"/>
                <a:ext cx="79524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dk1"/>
                    </a:solidFill>
                    <a:latin typeface="Aptos"/>
                    <a:ea typeface="Microsoft YaHei"/>
                  </a:rPr>
                  <a:t>BigDFT</a:t>
                </a:r>
                <a:endParaRPr b="0" lang="en-GB" sz="1800" spc="-1" strike="noStrike">
                  <a:solidFill>
                    <a:srgbClr val="000000"/>
                  </a:solidFill>
                  <a:latin typeface="Arial"/>
                </a:endParaRPr>
              </a:p>
            </p:txBody>
          </p:sp>
          <p:sp>
            <p:nvSpPr>
              <p:cNvPr id="184" name="TextBox 67"/>
              <p:cNvSpPr/>
              <p:nvPr/>
            </p:nvSpPr>
            <p:spPr>
              <a:xfrm>
                <a:off x="3874680" y="6108840"/>
                <a:ext cx="20872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electronic structure</a:t>
                </a:r>
                <a:endParaRPr b="0" lang="en-GB" sz="1800" spc="-1" strike="noStrike">
                  <a:solidFill>
                    <a:srgbClr val="000000"/>
                  </a:solidFill>
                  <a:latin typeface="Arial"/>
                </a:endParaRPr>
              </a:p>
            </p:txBody>
          </p:sp>
          <p:sp>
            <p:nvSpPr>
              <p:cNvPr id="185" name="TextBox 68"/>
              <p:cNvSpPr/>
              <p:nvPr/>
            </p:nvSpPr>
            <p:spPr>
              <a:xfrm>
                <a:off x="6444720" y="5832360"/>
                <a:ext cx="11332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dk1"/>
                    </a:solidFill>
                    <a:latin typeface="Aptos"/>
                    <a:ea typeface="Microsoft YaHei"/>
                  </a:rPr>
                  <a:t>LARA-HPC</a:t>
                </a:r>
                <a:endParaRPr b="0" lang="en-GB" sz="1800" spc="-1" strike="noStrike">
                  <a:solidFill>
                    <a:srgbClr val="000000"/>
                  </a:solidFill>
                  <a:latin typeface="Arial"/>
                </a:endParaRPr>
              </a:p>
            </p:txBody>
          </p:sp>
          <p:sp>
            <p:nvSpPr>
              <p:cNvPr id="186" name="TextBox 69"/>
              <p:cNvSpPr/>
              <p:nvPr/>
            </p:nvSpPr>
            <p:spPr>
              <a:xfrm>
                <a:off x="6541200" y="6108840"/>
                <a:ext cx="191376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dry-run validation</a:t>
                </a:r>
                <a:endParaRPr b="0" lang="en-GB" sz="1800" spc="-1" strike="noStrike">
                  <a:solidFill>
                    <a:srgbClr val="000000"/>
                  </a:solidFill>
                  <a:latin typeface="Arial"/>
                </a:endParaRPr>
              </a:p>
            </p:txBody>
          </p:sp>
          <p:sp>
            <p:nvSpPr>
              <p:cNvPr id="187" name="TextBox 70"/>
              <p:cNvSpPr/>
              <p:nvPr/>
            </p:nvSpPr>
            <p:spPr>
              <a:xfrm>
                <a:off x="9222120" y="5832360"/>
                <a:ext cx="170496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dk1"/>
                    </a:solidFill>
                    <a:latin typeface="Aptos"/>
                    <a:ea typeface="Microsoft YaHei"/>
                  </a:rPr>
                  <a:t>Capsule-Maker</a:t>
                </a:r>
                <a:endParaRPr b="0" lang="en-GB" sz="1800" spc="-1" strike="noStrike">
                  <a:solidFill>
                    <a:srgbClr val="000000"/>
                  </a:solidFill>
                  <a:latin typeface="Arial"/>
                </a:endParaRPr>
              </a:p>
            </p:txBody>
          </p:sp>
          <p:sp>
            <p:nvSpPr>
              <p:cNvPr id="188" name="TextBox 71"/>
              <p:cNvSpPr/>
              <p:nvPr/>
            </p:nvSpPr>
            <p:spPr>
              <a:xfrm>
                <a:off x="9259920" y="6108840"/>
                <a:ext cx="201132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research handover</a:t>
                </a:r>
                <a:endParaRPr b="0" lang="en-GB" sz="1800" spc="-1" strike="noStrike">
                  <a:solidFill>
                    <a:srgbClr val="000000"/>
                  </a:solidFill>
                  <a:latin typeface="Arial"/>
                </a:endParaRPr>
              </a:p>
            </p:txBody>
          </p:sp>
        </p:grpSp>
      </p:grpSp>
    </p:spTree>
  </p:cSld>
  <mc:AlternateContent>
    <mc:Choice Requires="p14">
      <p:transition p14:dur="400">
        <p:fade/>
      </p:transition>
    </mc:Choice>
    <mc:Fallback>
      <p:transition>
        <p:fade/>
      </p:transition>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0">
                                  <p:stCondLst>
                                    <p:cond delay="0"/>
                                  </p:stCondLst>
                                  <p:childTnLst>
                                    <p:set>
                                      <p:cBhvr>
                                        <p:cTn id="28" dur="1" fill="hold">
                                          <p:stCondLst>
                                            <p:cond delay="0"/>
                                          </p:stCondLst>
                                        </p:cTn>
                                        <p:tgtEl>
                                          <p:spTgt spid="145"/>
                                        </p:tgtEl>
                                        <p:attrNameLst>
                                          <p:attrName>style.visibility</p:attrName>
                                        </p:attrNameLst>
                                      </p:cBhvr>
                                      <p:to>
                                        <p:strVal val="visible"/>
                                      </p:to>
                                    </p:set>
                                    <p:animEffect filter="fade" transition="in">
                                      <p:cBhvr additive="repl">
                                        <p:cTn id="29" dur="500"/>
                                        <p:tgtEl>
                                          <p:spTgt spid="145"/>
                                        </p:tgtEl>
                                      </p:cBhvr>
                                    </p:animEffect>
                                  </p:childTnLst>
                                </p:cTn>
                              </p:par>
                            </p:childTnLst>
                          </p:cTn>
                        </p:par>
                      </p:childTnLst>
                    </p:cTn>
                  </p:par>
                  <p:par>
                    <p:cTn id="30" fill="hold">
                      <p:stCondLst>
                        <p:cond delay="indefinite"/>
                      </p:stCondLst>
                      <p:childTnLst>
                        <p:par>
                          <p:cTn id="31" fill="hold">
                            <p:stCondLst>
                              <p:cond delay="0"/>
                            </p:stCondLst>
                            <p:childTnLst>
                              <p:par>
                                <p:cTn id="32" nodeType="clickEffect" fill="hold" presetClass="entr" presetID="10">
                                  <p:stCondLst>
                                    <p:cond delay="0"/>
                                  </p:stCondLst>
                                  <p:childTnLst>
                                    <p:set>
                                      <p:cBhvr>
                                        <p:cTn id="33" dur="1" fill="hold">
                                          <p:stCondLst>
                                            <p:cond delay="0"/>
                                          </p:stCondLst>
                                        </p:cTn>
                                        <p:tgtEl>
                                          <p:spTgt spid="151"/>
                                        </p:tgtEl>
                                        <p:attrNameLst>
                                          <p:attrName>style.visibility</p:attrName>
                                        </p:attrNameLst>
                                      </p:cBhvr>
                                      <p:to>
                                        <p:strVal val="visible"/>
                                      </p:to>
                                    </p:set>
                                    <p:animEffect filter="fade" transition="in">
                                      <p:cBhvr additive="repl">
                                        <p:cTn id="34" dur="500"/>
                                        <p:tgtEl>
                                          <p:spTgt spid="151"/>
                                        </p:tgtEl>
                                      </p:cBhvr>
                                    </p:animEffec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0">
                                  <p:stCondLst>
                                    <p:cond delay="0"/>
                                  </p:stCondLst>
                                  <p:childTnLst>
                                    <p:set>
                                      <p:cBhvr>
                                        <p:cTn id="38" dur="1" fill="hold">
                                          <p:stCondLst>
                                            <p:cond delay="0"/>
                                          </p:stCondLst>
                                        </p:cTn>
                                        <p:tgtEl>
                                          <p:spTgt spid="162"/>
                                        </p:tgtEl>
                                        <p:attrNameLst>
                                          <p:attrName>style.visibility</p:attrName>
                                        </p:attrNameLst>
                                      </p:cBhvr>
                                      <p:to>
                                        <p:strVal val="visible"/>
                                      </p:to>
                                    </p:set>
                                    <p:animEffect filter="fade" transition="in">
                                      <p:cBhvr additive="repl">
                                        <p:cTn id="39" dur="6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6f1"/>
        </a:solidFill>
      </p:bgPr>
    </p:bg>
    <p:spTree>
      <p:nvGrpSpPr>
        <p:cNvPr id="1" name=""/>
        <p:cNvGrpSpPr/>
        <p:nvPr/>
      </p:nvGrpSpPr>
      <p:grpSpPr>
        <a:xfrm>
          <a:off x="0" y="0"/>
          <a:ext cx="0" cy="0"/>
          <a:chOff x="0" y="0"/>
          <a:chExt cx="0" cy="0"/>
        </a:xfrm>
      </p:grpSpPr>
      <p:grpSp>
        <p:nvGrpSpPr>
          <p:cNvPr id="189" name="title"/>
          <p:cNvGrpSpPr/>
          <p:nvPr/>
        </p:nvGrpSpPr>
        <p:grpSpPr>
          <a:xfrm>
            <a:off x="846360" y="533520"/>
            <a:ext cx="5015160" cy="640440"/>
            <a:chOff x="846360" y="533520"/>
            <a:chExt cx="5015160" cy="640440"/>
          </a:xfrm>
        </p:grpSpPr>
        <p:sp>
          <p:nvSpPr>
            <p:cNvPr id="190" name="TextBox 6"/>
            <p:cNvSpPr/>
            <p:nvPr/>
          </p:nvSpPr>
          <p:spPr>
            <a:xfrm>
              <a:off x="846360" y="533520"/>
              <a:ext cx="5015160" cy="640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4200" spc="-1" strike="noStrike">
                  <a:solidFill>
                    <a:schemeClr val="dk1"/>
                  </a:solidFill>
                  <a:latin typeface="Aptos"/>
                  <a:ea typeface="Microsoft YaHei"/>
                </a:rPr>
                <a:t>Knowledge growth</a:t>
              </a:r>
              <a:endParaRPr b="0" lang="en-GB" sz="4200" spc="-1" strike="noStrike">
                <a:solidFill>
                  <a:srgbClr val="000000"/>
                </a:solidFill>
                <a:latin typeface="Arial"/>
              </a:endParaRPr>
            </a:p>
          </p:txBody>
        </p:sp>
      </p:grpSp>
      <p:grpSp>
        <p:nvGrpSpPr>
          <p:cNvPr id="191" name="shared-start"/>
          <p:cNvGrpSpPr/>
          <p:nvPr/>
        </p:nvGrpSpPr>
        <p:grpSpPr>
          <a:xfrm>
            <a:off x="762120" y="1390680"/>
            <a:ext cx="5143320" cy="875880"/>
            <a:chOff x="762120" y="1390680"/>
            <a:chExt cx="5143320" cy="875880"/>
          </a:xfrm>
        </p:grpSpPr>
        <p:sp>
          <p:nvSpPr>
            <p:cNvPr id="192" name="Rectangle 8"/>
            <p:cNvSpPr/>
            <p:nvPr/>
          </p:nvSpPr>
          <p:spPr>
            <a:xfrm>
              <a:off x="762120" y="1390680"/>
              <a:ext cx="5143320" cy="875880"/>
            </a:xfrm>
            <a:prstGeom prst="roundRect">
              <a:avLst>
                <a:gd name="adj" fmla="val 15217"/>
              </a:avLst>
            </a:prstGeom>
            <a:solidFill>
              <a:schemeClr val="lt2"/>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3" name="Freeform 9"/>
            <p:cNvSpPr/>
            <p:nvPr/>
          </p:nvSpPr>
          <p:spPr>
            <a:xfrm>
              <a:off x="1004760" y="1662120"/>
              <a:ext cx="213840" cy="142560"/>
            </a:xfrm>
            <a:custGeom>
              <a:avLst/>
              <a:gdLst>
                <a:gd name="textAreaLeft" fmla="*/ 0 w 213840"/>
                <a:gd name="textAreaRight" fmla="*/ 214200 w 213840"/>
                <a:gd name="textAreaTop" fmla="*/ 0 h 142560"/>
                <a:gd name="textAreaBottom" fmla="*/ 142920 h 142560"/>
              </a:gdLst>
              <a:ahLst/>
              <a:rect l="textAreaLeft" t="textAreaTop" r="textAreaRight" b="textAreaBottom"/>
              <a:pathLst>
                <a:path w="214312" h="142875">
                  <a:moveTo>
                    <a:pt x="0" y="71438"/>
                  </a:moveTo>
                  <a:lnTo>
                    <a:pt x="71438" y="142875"/>
                  </a:lnTo>
                  <a:lnTo>
                    <a:pt x="214312" y="0"/>
                  </a:ln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4" name="TextBox 10"/>
            <p:cNvSpPr/>
            <p:nvPr/>
          </p:nvSpPr>
          <p:spPr>
            <a:xfrm>
              <a:off x="1544040" y="1504800"/>
              <a:ext cx="347724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2250" spc="-1" strike="noStrike">
                  <a:solidFill>
                    <a:schemeClr val="dk1"/>
                  </a:solidFill>
                  <a:latin typeface="Aptos"/>
                  <a:ea typeface="Microsoft YaHei"/>
                </a:rPr>
                <a:t>24 initial PBE input pairs</a:t>
              </a:r>
              <a:endParaRPr b="0" lang="en-GB" sz="2250" spc="-1" strike="noStrike">
                <a:solidFill>
                  <a:srgbClr val="000000"/>
                </a:solidFill>
                <a:latin typeface="Arial"/>
              </a:endParaRPr>
            </a:p>
          </p:txBody>
        </p:sp>
        <p:sp>
          <p:nvSpPr>
            <p:cNvPr id="195" name="TextBox 11"/>
            <p:cNvSpPr/>
            <p:nvPr/>
          </p:nvSpPr>
          <p:spPr>
            <a:xfrm>
              <a:off x="1636560" y="1879560"/>
              <a:ext cx="354276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byte-identical across both agents</a:t>
              </a:r>
              <a:endParaRPr b="0" lang="en-GB" sz="1800" spc="-1" strike="noStrike">
                <a:solidFill>
                  <a:srgbClr val="000000"/>
                </a:solidFill>
                <a:latin typeface="Arial"/>
              </a:endParaRPr>
            </a:p>
          </p:txBody>
        </p:sp>
      </p:grpSp>
      <p:grpSp>
        <p:nvGrpSpPr>
          <p:cNvPr id="196" name="growth-qwen"/>
          <p:cNvGrpSpPr/>
          <p:nvPr/>
        </p:nvGrpSpPr>
        <p:grpSpPr>
          <a:xfrm>
            <a:off x="762120" y="2495520"/>
            <a:ext cx="5219280" cy="1104840"/>
            <a:chOff x="762120" y="2495520"/>
            <a:chExt cx="5219280" cy="1104840"/>
          </a:xfrm>
        </p:grpSpPr>
        <p:sp>
          <p:nvSpPr>
            <p:cNvPr id="197" name="Rectangle 13"/>
            <p:cNvSpPr/>
            <p:nvPr/>
          </p:nvSpPr>
          <p:spPr>
            <a:xfrm>
              <a:off x="838080" y="2571840"/>
              <a:ext cx="5143320" cy="1028520"/>
            </a:xfrm>
            <a:prstGeom prst="roundRect">
              <a:avLst>
                <a:gd name="adj" fmla="val 12963"/>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98" name="Rectangle 14"/>
            <p:cNvSpPr/>
            <p:nvPr/>
          </p:nvSpPr>
          <p:spPr>
            <a:xfrm>
              <a:off x="762120" y="2495520"/>
              <a:ext cx="5143320" cy="1028520"/>
            </a:xfrm>
            <a:prstGeom prst="roundRect">
              <a:avLst>
                <a:gd name="adj" fmla="val 12963"/>
              </a:avLst>
            </a:prstGeom>
            <a:solidFill>
              <a:schemeClr val="accent3"/>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9" name="TextBox 15"/>
            <p:cNvSpPr/>
            <p:nvPr/>
          </p:nvSpPr>
          <p:spPr>
            <a:xfrm>
              <a:off x="1026720" y="2584440"/>
              <a:ext cx="265140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dk1"/>
                  </a:solidFill>
                  <a:latin typeface="Aptos"/>
                  <a:ea typeface="Microsoft YaHei"/>
                </a:rPr>
                <a:t>OpenCode / local Qwen</a:t>
              </a:r>
              <a:endParaRPr b="0" lang="en-GB" sz="1800" spc="-1" strike="noStrike">
                <a:solidFill>
                  <a:srgbClr val="000000"/>
                </a:solidFill>
                <a:latin typeface="Arial"/>
              </a:endParaRPr>
            </a:p>
          </p:txBody>
        </p:sp>
        <p:sp>
          <p:nvSpPr>
            <p:cNvPr id="200" name="TextBox 16"/>
            <p:cNvSpPr/>
            <p:nvPr/>
          </p:nvSpPr>
          <p:spPr>
            <a:xfrm>
              <a:off x="1043280" y="2901960"/>
              <a:ext cx="2759400" cy="36612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2400" spc="-1" strike="noStrike">
                  <a:solidFill>
                    <a:schemeClr val="dk1"/>
                  </a:solidFill>
                  <a:latin typeface="Aptos"/>
                  <a:ea typeface="Microsoft YaHei"/>
                </a:rPr>
                <a:t>6 new PBE0 inputs</a:t>
              </a:r>
              <a:endParaRPr b="0" lang="en-GB" sz="2400" spc="-1" strike="noStrike">
                <a:solidFill>
                  <a:srgbClr val="000000"/>
                </a:solidFill>
                <a:latin typeface="Arial"/>
              </a:endParaRPr>
            </a:p>
          </p:txBody>
        </p:sp>
        <p:sp>
          <p:nvSpPr>
            <p:cNvPr id="201" name="TextBox 17"/>
            <p:cNvSpPr/>
            <p:nvPr/>
          </p:nvSpPr>
          <p:spPr>
            <a:xfrm>
              <a:off x="1058040" y="3213000"/>
              <a:ext cx="172332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created from C1</a:t>
              </a:r>
              <a:endParaRPr b="0" lang="en-GB" sz="1800" spc="-1" strike="noStrike">
                <a:solidFill>
                  <a:srgbClr val="000000"/>
                </a:solidFill>
                <a:latin typeface="Arial"/>
              </a:endParaRPr>
            </a:p>
          </p:txBody>
        </p:sp>
      </p:grpSp>
      <p:grpSp>
        <p:nvGrpSpPr>
          <p:cNvPr id="202" name="growth-claude"/>
          <p:cNvGrpSpPr/>
          <p:nvPr/>
        </p:nvGrpSpPr>
        <p:grpSpPr>
          <a:xfrm>
            <a:off x="762120" y="3790800"/>
            <a:ext cx="5219280" cy="1523880"/>
            <a:chOff x="762120" y="3790800"/>
            <a:chExt cx="5219280" cy="1523880"/>
          </a:xfrm>
        </p:grpSpPr>
        <p:sp>
          <p:nvSpPr>
            <p:cNvPr id="203" name="Rectangle 19"/>
            <p:cNvSpPr/>
            <p:nvPr/>
          </p:nvSpPr>
          <p:spPr>
            <a:xfrm>
              <a:off x="838080" y="3867120"/>
              <a:ext cx="5143320" cy="1447560"/>
            </a:xfrm>
            <a:prstGeom prst="roundRect">
              <a:avLst>
                <a:gd name="adj" fmla="val 9211"/>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4" name="Rectangle 20"/>
            <p:cNvSpPr/>
            <p:nvPr/>
          </p:nvSpPr>
          <p:spPr>
            <a:xfrm>
              <a:off x="762120" y="3790800"/>
              <a:ext cx="5143320" cy="1447560"/>
            </a:xfrm>
            <a:prstGeom prst="roundRect">
              <a:avLst>
                <a:gd name="adj" fmla="val 9211"/>
              </a:avLst>
            </a:prstGeom>
            <a:solidFill>
              <a:schemeClr val="accent3"/>
            </a:solid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05" name="TextBox 21"/>
            <p:cNvSpPr/>
            <p:nvPr/>
          </p:nvSpPr>
          <p:spPr>
            <a:xfrm>
              <a:off x="1074960" y="3879720"/>
              <a:ext cx="259956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dk1"/>
                  </a:solidFill>
                  <a:latin typeface="Aptos"/>
                  <a:ea typeface="Microsoft YaHei"/>
                </a:rPr>
                <a:t>Claude Code / Opus 5.5</a:t>
              </a:r>
              <a:endParaRPr b="0" lang="en-GB" sz="1800" spc="-1" strike="noStrike">
                <a:solidFill>
                  <a:srgbClr val="000000"/>
                </a:solidFill>
                <a:latin typeface="Arial"/>
              </a:endParaRPr>
            </a:p>
          </p:txBody>
        </p:sp>
        <p:sp>
          <p:nvSpPr>
            <p:cNvPr id="206" name="TextBox 22"/>
            <p:cNvSpPr/>
            <p:nvPr/>
          </p:nvSpPr>
          <p:spPr>
            <a:xfrm>
              <a:off x="991440" y="4197240"/>
              <a:ext cx="3189240" cy="36612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2400" spc="-1" strike="noStrike">
                  <a:solidFill>
                    <a:schemeClr val="dk1"/>
                  </a:solidFill>
                  <a:latin typeface="Aptos"/>
                  <a:ea typeface="Microsoft YaHei"/>
                </a:rPr>
                <a:t>Same physical model</a:t>
              </a:r>
              <a:endParaRPr b="0" lang="en-GB" sz="2400" spc="-1" strike="noStrike">
                <a:solidFill>
                  <a:srgbClr val="000000"/>
                </a:solidFill>
                <a:latin typeface="Arial"/>
              </a:endParaRPr>
            </a:p>
          </p:txBody>
        </p:sp>
        <p:sp>
          <p:nvSpPr>
            <p:cNvPr id="207" name="TextBox 23"/>
            <p:cNvSpPr/>
            <p:nvPr/>
          </p:nvSpPr>
          <p:spPr>
            <a:xfrm>
              <a:off x="1149480" y="4565520"/>
              <a:ext cx="4382640" cy="572040"/>
            </a:xfrm>
            <a:prstGeom prst="rect">
              <a:avLst/>
            </a:prstGeom>
            <a:noFill/>
            <a:ln w="0">
              <a:noFill/>
            </a:ln>
          </p:spPr>
          <p:style>
            <a:lnRef idx="0"/>
            <a:fillRef idx="0"/>
            <a:effectRef idx="0"/>
            <a:fontRef idx="minor"/>
          </p:style>
          <p:txBody>
            <a:bodyPr wrap="none" lIns="0" rIns="0" tIns="0" bIns="0" anchor="t">
              <a:spAutoFit/>
            </a:bodyPr>
            <a:p>
              <a:pPr defTabSz="457200">
                <a:lnSpc>
                  <a:spcPts val="2251"/>
                </a:lnSpc>
              </a:pPr>
              <a:r>
                <a:rPr b="0" lang="en-GB" sz="1800" spc="-1" strike="noStrike">
                  <a:solidFill>
                    <a:schemeClr val="dk1"/>
                  </a:solidFill>
                  <a:latin typeface="Aptos"/>
                  <a:ea typeface="Microsoft YaHei"/>
                </a:rPr>
                <a:t>at the shared grid, plus iteration controls</a:t>
              </a:r>
              <a:br>
                <a:rPr sz="1800"/>
              </a:br>
              <a:r>
                <a:rPr b="0" lang="en-GB" sz="1800" spc="-1" strike="noStrike">
                  <a:solidFill>
                    <a:schemeClr val="dk1"/>
                  </a:solidFill>
                  <a:latin typeface="Aptos"/>
                  <a:ea typeface="Microsoft YaHei"/>
                </a:rPr>
                <a:t>and, later, restart</a:t>
              </a:r>
              <a:endParaRPr b="0" lang="en-GB" sz="1800" spc="-1" strike="noStrike">
                <a:solidFill>
                  <a:srgbClr val="000000"/>
                </a:solidFill>
                <a:latin typeface="Arial"/>
              </a:endParaRPr>
            </a:p>
          </p:txBody>
        </p:sp>
      </p:grpSp>
      <p:sp>
        <p:nvSpPr>
          <p:cNvPr id="208" name="TextBox 25"/>
          <p:cNvSpPr/>
          <p:nvPr/>
        </p:nvSpPr>
        <p:spPr>
          <a:xfrm>
            <a:off x="6609960" y="1308240"/>
            <a:ext cx="326556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a:solidFill>
                  <a:schemeClr val="accent5"/>
                </a:solidFill>
                <a:latin typeface="Aptos"/>
                <a:ea typeface="Microsoft YaHei"/>
              </a:rPr>
              <a:t>Claude's descendant capsule</a:t>
            </a:r>
            <a:endParaRPr b="0" lang="en-GB" sz="1800" spc="-1" strike="noStrike">
              <a:solidFill>
                <a:srgbClr val="000000"/>
              </a:solidFill>
              <a:latin typeface="Arial"/>
            </a:endParaRPr>
          </a:p>
        </p:txBody>
      </p:sp>
      <p:sp>
        <p:nvSpPr>
          <p:cNvPr id="209" name="Freeform 26"/>
          <p:cNvSpPr/>
          <p:nvPr/>
        </p:nvSpPr>
        <p:spPr>
          <a:xfrm>
            <a:off x="6629400" y="2057400"/>
            <a:ext cx="1047240" cy="1047240"/>
          </a:xfrm>
          <a:prstGeom prst="can">
            <a:avLst>
              <a:gd name="adj" fmla="val 25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0" name="Freeform 27"/>
          <p:cNvSpPr/>
          <p:nvPr/>
        </p:nvSpPr>
        <p:spPr>
          <a:xfrm>
            <a:off x="6572160" y="2000160"/>
            <a:ext cx="1047240" cy="1047240"/>
          </a:xfrm>
          <a:prstGeom prst="can">
            <a:avLst>
              <a:gd name="adj" fmla="val 25000"/>
            </a:avLst>
          </a:prstGeom>
          <a:solidFill>
            <a:schemeClr val="accent2"/>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1" name="Freeform 28"/>
          <p:cNvSpPr/>
          <p:nvPr/>
        </p:nvSpPr>
        <p:spPr>
          <a:xfrm>
            <a:off x="7867800" y="2362320"/>
            <a:ext cx="495000" cy="32364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2" name="Freeform 29"/>
          <p:cNvSpPr/>
          <p:nvPr/>
        </p:nvSpPr>
        <p:spPr>
          <a:xfrm>
            <a:off x="8667720" y="1771560"/>
            <a:ext cx="1428480" cy="1371240"/>
          </a:xfrm>
          <a:prstGeom prst="can">
            <a:avLst>
              <a:gd name="adj" fmla="val 25000"/>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3" name="Freeform 30"/>
          <p:cNvSpPr/>
          <p:nvPr/>
        </p:nvSpPr>
        <p:spPr>
          <a:xfrm>
            <a:off x="8572680" y="1676520"/>
            <a:ext cx="1428480" cy="1371240"/>
          </a:xfrm>
          <a:prstGeom prst="can">
            <a:avLst>
              <a:gd name="adj" fmla="val 25000"/>
            </a:avLst>
          </a:prstGeom>
          <a:solidFill>
            <a:schemeClr val="accent2"/>
          </a:solidFill>
          <a:ln w="3816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4" name="Freeform 31"/>
          <p:cNvSpPr/>
          <p:nvPr/>
        </p:nvSpPr>
        <p:spPr>
          <a:xfrm>
            <a:off x="10344240" y="1600200"/>
            <a:ext cx="1180800" cy="552240"/>
          </a:xfrm>
          <a:prstGeom prst="wedgeRoundRectCallout">
            <a:avLst>
              <a:gd name="adj1" fmla="val -74000"/>
              <a:gd name="adj2" fmla="val 90000"/>
              <a:gd name="adj3" fmla="val 16667"/>
            </a:avLst>
          </a:pr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15" name="TextBox 32"/>
          <p:cNvSpPr/>
          <p:nvPr/>
        </p:nvSpPr>
        <p:spPr>
          <a:xfrm>
            <a:off x="10688760" y="1714680"/>
            <a:ext cx="491760" cy="3434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2250" spc="-1" strike="noStrike">
                <a:solidFill>
                  <a:srgbClr val="f8f6f1"/>
                </a:solidFill>
                <a:latin typeface="Aptos"/>
                <a:ea typeface="Microsoft YaHei"/>
              </a:rPr>
              <a:t>+25</a:t>
            </a:r>
            <a:endParaRPr b="0" lang="en-GB" sz="2250" spc="-1" strike="noStrike">
              <a:solidFill>
                <a:srgbClr val="000000"/>
              </a:solidFill>
              <a:latin typeface="Arial"/>
            </a:endParaRPr>
          </a:p>
        </p:txBody>
      </p:sp>
      <p:grpSp>
        <p:nvGrpSpPr>
          <p:cNvPr id="216" name="Group 37"/>
          <p:cNvGrpSpPr/>
          <p:nvPr/>
        </p:nvGrpSpPr>
        <p:grpSpPr>
          <a:xfrm>
            <a:off x="6790680" y="2114640"/>
            <a:ext cx="2801160" cy="1688040"/>
            <a:chOff x="6790680" y="2114640"/>
            <a:chExt cx="2801160" cy="1688040"/>
          </a:xfrm>
        </p:grpSpPr>
        <p:sp>
          <p:nvSpPr>
            <p:cNvPr id="217" name="TextBox 33"/>
            <p:cNvSpPr/>
            <p:nvPr/>
          </p:nvSpPr>
          <p:spPr>
            <a:xfrm>
              <a:off x="6887880" y="2330280"/>
              <a:ext cx="415440" cy="41220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2700" spc="-1" strike="noStrike">
                  <a:solidFill>
                    <a:schemeClr val="dk1"/>
                  </a:solidFill>
                  <a:latin typeface="Aptos"/>
                  <a:ea typeface="Microsoft YaHei"/>
                </a:rPr>
                <a:t>C1</a:t>
              </a:r>
              <a:endParaRPr b="0" lang="en-GB" sz="2700" spc="-1" strike="noStrike">
                <a:solidFill>
                  <a:srgbClr val="000000"/>
                </a:solidFill>
                <a:latin typeface="Arial"/>
              </a:endParaRPr>
            </a:p>
          </p:txBody>
        </p:sp>
        <p:sp>
          <p:nvSpPr>
            <p:cNvPr id="218" name="TextBox 34"/>
            <p:cNvSpPr/>
            <p:nvPr/>
          </p:nvSpPr>
          <p:spPr>
            <a:xfrm>
              <a:off x="9033120" y="2114640"/>
              <a:ext cx="506880" cy="5032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3300" spc="-1" strike="noStrike">
                  <a:solidFill>
                    <a:schemeClr val="dk1"/>
                  </a:solidFill>
                  <a:latin typeface="Aptos"/>
                  <a:ea typeface="Microsoft YaHei"/>
                </a:rPr>
                <a:t>C2</a:t>
              </a:r>
              <a:endParaRPr b="0" lang="en-GB" sz="3300" spc="-1" strike="noStrike">
                <a:solidFill>
                  <a:srgbClr val="000000"/>
                </a:solidFill>
                <a:latin typeface="Arial"/>
              </a:endParaRPr>
            </a:p>
          </p:txBody>
        </p:sp>
        <p:sp>
          <p:nvSpPr>
            <p:cNvPr id="219" name="TextBox 35"/>
            <p:cNvSpPr/>
            <p:nvPr/>
          </p:nvSpPr>
          <p:spPr>
            <a:xfrm>
              <a:off x="6790680" y="3162240"/>
              <a:ext cx="610560" cy="6404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4200" spc="-1" strike="noStrike">
                  <a:solidFill>
                    <a:schemeClr val="dk1"/>
                  </a:solidFill>
                  <a:latin typeface="Aptos"/>
                  <a:ea typeface="Microsoft YaHei"/>
                </a:rPr>
                <a:t>63</a:t>
              </a:r>
              <a:endParaRPr b="0" lang="en-GB" sz="4200" spc="-1" strike="noStrike">
                <a:solidFill>
                  <a:srgbClr val="000000"/>
                </a:solidFill>
                <a:latin typeface="Arial"/>
              </a:endParaRPr>
            </a:p>
          </p:txBody>
        </p:sp>
        <p:sp>
          <p:nvSpPr>
            <p:cNvPr id="220" name="TextBox 36"/>
            <p:cNvSpPr/>
            <p:nvPr/>
          </p:nvSpPr>
          <p:spPr>
            <a:xfrm>
              <a:off x="8981280" y="3162240"/>
              <a:ext cx="610560" cy="6404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GB" sz="4200" spc="-1" strike="noStrike">
                  <a:solidFill>
                    <a:schemeClr val="dk1"/>
                  </a:solidFill>
                  <a:latin typeface="Aptos"/>
                  <a:ea typeface="Microsoft YaHei"/>
                </a:rPr>
                <a:t>88</a:t>
              </a:r>
              <a:endParaRPr b="0" lang="en-GB" sz="4200" spc="-1" strike="noStrike">
                <a:solidFill>
                  <a:srgbClr val="000000"/>
                </a:solidFill>
                <a:latin typeface="Arial"/>
              </a:endParaRPr>
            </a:p>
          </p:txBody>
        </p:sp>
      </p:grpSp>
      <p:grpSp>
        <p:nvGrpSpPr>
          <p:cNvPr id="221" name="Group 40"/>
          <p:cNvGrpSpPr/>
          <p:nvPr/>
        </p:nvGrpSpPr>
        <p:grpSpPr>
          <a:xfrm>
            <a:off x="6692040" y="3708360"/>
            <a:ext cx="2998080" cy="274680"/>
            <a:chOff x="6692040" y="3708360"/>
            <a:chExt cx="2998080" cy="274680"/>
          </a:xfrm>
        </p:grpSpPr>
        <p:sp>
          <p:nvSpPr>
            <p:cNvPr id="222" name="TextBox 38"/>
            <p:cNvSpPr/>
            <p:nvPr/>
          </p:nvSpPr>
          <p:spPr>
            <a:xfrm>
              <a:off x="6692040" y="3708360"/>
              <a:ext cx="80712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GB" sz="1800" spc="-1" strike="noStrike">
                  <a:solidFill>
                    <a:schemeClr val="accent5"/>
                  </a:solidFill>
                  <a:latin typeface="Aptos"/>
                  <a:ea typeface="Microsoft YaHei"/>
                </a:rPr>
                <a:t>records</a:t>
              </a:r>
              <a:endParaRPr b="0" lang="en-GB" sz="1800" spc="-1" strike="noStrike">
                <a:solidFill>
                  <a:srgbClr val="000000"/>
                </a:solidFill>
                <a:latin typeface="Arial"/>
              </a:endParaRPr>
            </a:p>
          </p:txBody>
        </p:sp>
        <p:sp>
          <p:nvSpPr>
            <p:cNvPr id="223" name="TextBox 39"/>
            <p:cNvSpPr/>
            <p:nvPr/>
          </p:nvSpPr>
          <p:spPr>
            <a:xfrm>
              <a:off x="8883000" y="3708360"/>
              <a:ext cx="807120" cy="274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GB" sz="1800" spc="-1" strike="noStrike">
                  <a:solidFill>
                    <a:schemeClr val="accent5"/>
                  </a:solidFill>
                  <a:latin typeface="Aptos"/>
                  <a:ea typeface="Microsoft YaHei"/>
                </a:rPr>
                <a:t>records</a:t>
              </a:r>
              <a:endParaRPr b="0" lang="en-GB" sz="1800" spc="-1" strike="noStrike">
                <a:solidFill>
                  <a:srgbClr val="000000"/>
                </a:solidFill>
                <a:latin typeface="Arial"/>
              </a:endParaRPr>
            </a:p>
          </p:txBody>
        </p:sp>
      </p:grpSp>
      <p:grpSp>
        <p:nvGrpSpPr>
          <p:cNvPr id="224" name="Group 44"/>
          <p:cNvGrpSpPr/>
          <p:nvPr/>
        </p:nvGrpSpPr>
        <p:grpSpPr>
          <a:xfrm>
            <a:off x="6555600" y="4013280"/>
            <a:ext cx="3826800" cy="807840"/>
            <a:chOff x="6555600" y="4013280"/>
            <a:chExt cx="3826800" cy="807840"/>
          </a:xfrm>
        </p:grpSpPr>
        <p:sp>
          <p:nvSpPr>
            <p:cNvPr id="225" name="TextBox 41"/>
            <p:cNvSpPr/>
            <p:nvPr/>
          </p:nvSpPr>
          <p:spPr>
            <a:xfrm>
              <a:off x="6654960" y="4013280"/>
              <a:ext cx="234036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Parent files preserved</a:t>
              </a:r>
              <a:endParaRPr b="0" lang="en-GB" sz="1800" spc="-1" strike="noStrike">
                <a:solidFill>
                  <a:srgbClr val="000000"/>
                </a:solidFill>
                <a:latin typeface="Arial"/>
              </a:endParaRPr>
            </a:p>
          </p:txBody>
        </p:sp>
        <p:sp>
          <p:nvSpPr>
            <p:cNvPr id="226" name="TextBox 42"/>
            <p:cNvSpPr/>
            <p:nvPr/>
          </p:nvSpPr>
          <p:spPr>
            <a:xfrm>
              <a:off x="6624720" y="4280040"/>
              <a:ext cx="37576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Inherited grid decision superseded</a:t>
              </a:r>
              <a:endParaRPr b="0" lang="en-GB" sz="1800" spc="-1" strike="noStrike">
                <a:solidFill>
                  <a:srgbClr val="000000"/>
                </a:solidFill>
                <a:latin typeface="Arial"/>
              </a:endParaRPr>
            </a:p>
          </p:txBody>
        </p:sp>
        <p:sp>
          <p:nvSpPr>
            <p:cNvPr id="227" name="TextBox 43"/>
            <p:cNvSpPr/>
            <p:nvPr/>
          </p:nvSpPr>
          <p:spPr>
            <a:xfrm>
              <a:off x="6555600" y="4546440"/>
              <a:ext cx="190296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C2 ZIP: </a:t>
              </a:r>
              <a:r>
                <a:rPr b="0" lang="en-GB" sz="1800" spc="-1" strike="noStrike">
                  <a:solidFill>
                    <a:schemeClr val="dk1"/>
                  </a:solidFill>
                  <a:latin typeface="Consolas"/>
                  <a:ea typeface="Consolas"/>
                </a:rPr>
                <a:t>1.286 MB</a:t>
              </a:r>
              <a:endParaRPr b="0" lang="en-GB" sz="1800" spc="-1" strike="noStrike">
                <a:solidFill>
                  <a:srgbClr val="000000"/>
                </a:solidFill>
                <a:latin typeface="Arial"/>
              </a:endParaRPr>
            </a:p>
          </p:txBody>
        </p:sp>
      </p:grpSp>
      <p:grpSp>
        <p:nvGrpSpPr>
          <p:cNvPr id="228" name="pbe0-result"/>
          <p:cNvGrpSpPr/>
          <p:nvPr/>
        </p:nvGrpSpPr>
        <p:grpSpPr>
          <a:xfrm>
            <a:off x="6477120" y="4952880"/>
            <a:ext cx="5105160" cy="590040"/>
            <a:chOff x="6477120" y="4952880"/>
            <a:chExt cx="5105160" cy="590040"/>
          </a:xfrm>
        </p:grpSpPr>
        <p:sp>
          <p:nvSpPr>
            <p:cNvPr id="229" name="Rectangle 46"/>
            <p:cNvSpPr/>
            <p:nvPr/>
          </p:nvSpPr>
          <p:spPr>
            <a:xfrm>
              <a:off x="6477120" y="4952880"/>
              <a:ext cx="5105160" cy="590040"/>
            </a:xfrm>
            <a:prstGeom prst="roundRect">
              <a:avLst>
                <a:gd name="adj" fmla="val 22581"/>
              </a:avLst>
            </a:prstGeom>
            <a:solidFill>
              <a:schemeClr val="lt2"/>
            </a:solidFill>
            <a:ln w="28440">
              <a:solidFill>
                <a:schemeClr val="accent1"/>
              </a:solidFill>
              <a:custDash>
                <a:ds d="333000" sp="266000"/>
              </a:custDash>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nvGrpSpPr>
            <p:cNvPr id="230" name="Group 51"/>
            <p:cNvGrpSpPr/>
            <p:nvPr/>
          </p:nvGrpSpPr>
          <p:grpSpPr>
            <a:xfrm>
              <a:off x="6734160" y="5110200"/>
              <a:ext cx="171000" cy="256680"/>
              <a:chOff x="6734160" y="5110200"/>
              <a:chExt cx="171000" cy="256680"/>
            </a:xfrm>
          </p:grpSpPr>
          <p:sp>
            <p:nvSpPr>
              <p:cNvPr id="231" name="Freeform 47"/>
              <p:cNvSpPr/>
              <p:nvPr/>
            </p:nvSpPr>
            <p:spPr>
              <a:xfrm>
                <a:off x="6741360" y="5167440"/>
                <a:ext cx="156960" cy="9000"/>
              </a:xfrm>
              <a:custGeom>
                <a:avLst/>
                <a:gdLst>
                  <a:gd name="textAreaLeft" fmla="*/ 0 w 156960"/>
                  <a:gd name="textAreaRight" fmla="*/ 157320 w 156960"/>
                  <a:gd name="textAreaTop" fmla="*/ 0 h 9000"/>
                  <a:gd name="textAreaBottom" fmla="*/ 9360 h 9000"/>
                </a:gdLst>
                <a:ahLst/>
                <a:rect l="textAreaLeft" t="textAreaTop" r="textAreaRight" b="textAreaBottom"/>
                <a:pathLst>
                  <a:path w="157162" h="9525">
                    <a:moveTo>
                      <a:pt x="0" y="0"/>
                    </a:moveTo>
                    <a:lnTo>
                      <a:pt x="157162"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232" name="Freeform 48"/>
              <p:cNvSpPr/>
              <p:nvPr/>
            </p:nvSpPr>
            <p:spPr>
              <a:xfrm>
                <a:off x="6741360" y="5310360"/>
                <a:ext cx="156960" cy="9000"/>
              </a:xfrm>
              <a:custGeom>
                <a:avLst/>
                <a:gdLst>
                  <a:gd name="textAreaLeft" fmla="*/ 0 w 156960"/>
                  <a:gd name="textAreaRight" fmla="*/ 157320 w 156960"/>
                  <a:gd name="textAreaTop" fmla="*/ 0 h 9000"/>
                  <a:gd name="textAreaBottom" fmla="*/ 9360 h 9000"/>
                </a:gdLst>
                <a:ahLst/>
                <a:rect l="textAreaLeft" t="textAreaTop" r="textAreaRight" b="textAreaBottom"/>
                <a:pathLst>
                  <a:path w="157162" h="9525">
                    <a:moveTo>
                      <a:pt x="0" y="0"/>
                    </a:moveTo>
                    <a:lnTo>
                      <a:pt x="157162" y="0"/>
                    </a:lnTo>
                  </a:path>
                </a:pathLst>
              </a:custGeom>
              <a:noFill/>
              <a:ln w="28440">
                <a:solidFill>
                  <a:schemeClr val="accent1"/>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233" name="Freeform 49"/>
              <p:cNvSpPr/>
              <p:nvPr/>
            </p:nvSpPr>
            <p:spPr>
              <a:xfrm>
                <a:off x="6734160" y="5238720"/>
                <a:ext cx="171000" cy="128160"/>
              </a:xfrm>
              <a:custGeom>
                <a:avLst/>
                <a:gdLst>
                  <a:gd name="textAreaLeft" fmla="*/ 0 w 171000"/>
                  <a:gd name="textAreaRight" fmla="*/ 171360 w 171000"/>
                  <a:gd name="textAreaTop" fmla="*/ 0 h 128160"/>
                  <a:gd name="textAreaBottom" fmla="*/ 128520 h 128160"/>
                </a:gdLst>
                <a:ahLst/>
                <a:rect l="textAreaLeft" t="textAreaTop" r="textAreaRight" b="textAreaBottom"/>
                <a:pathLst>
                  <a:path w="171450" h="128588">
                    <a:moveTo>
                      <a:pt x="0" y="114300"/>
                    </a:moveTo>
                    <a:lnTo>
                      <a:pt x="0" y="85725"/>
                    </a:lnTo>
                    <a:cubicBezTo>
                      <a:pt x="0" y="38380"/>
                      <a:pt x="38380" y="0"/>
                      <a:pt x="85725" y="0"/>
                    </a:cubicBezTo>
                    <a:cubicBezTo>
                      <a:pt x="133070" y="0"/>
                      <a:pt x="171450" y="38380"/>
                      <a:pt x="171450" y="85725"/>
                    </a:cubicBezTo>
                    <a:lnTo>
                      <a:pt x="171450" y="114300"/>
                    </a:lnTo>
                    <a:cubicBezTo>
                      <a:pt x="171450" y="122191"/>
                      <a:pt x="165053" y="128588"/>
                      <a:pt x="157162" y="128588"/>
                    </a:cubicBezTo>
                    <a:lnTo>
                      <a:pt x="14288" y="128588"/>
                    </a:lnTo>
                    <a:cubicBezTo>
                      <a:pt x="6397" y="128588"/>
                      <a:pt x="0" y="122191"/>
                      <a:pt x="0" y="114300"/>
                    </a:cubicBez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34" name="Freeform 50"/>
              <p:cNvSpPr/>
              <p:nvPr/>
            </p:nvSpPr>
            <p:spPr>
              <a:xfrm>
                <a:off x="6734160" y="5110200"/>
                <a:ext cx="171000" cy="128160"/>
              </a:xfrm>
              <a:custGeom>
                <a:avLst/>
                <a:gdLst>
                  <a:gd name="textAreaLeft" fmla="*/ 0 w 171000"/>
                  <a:gd name="textAreaRight" fmla="*/ 171360 w 171000"/>
                  <a:gd name="textAreaTop" fmla="*/ 0 h 128160"/>
                  <a:gd name="textAreaBottom" fmla="*/ 128520 h 128160"/>
                </a:gdLst>
                <a:ahLst/>
                <a:rect l="textAreaLeft" t="textAreaTop" r="textAreaRight" b="textAreaBottom"/>
                <a:pathLst>
                  <a:path w="171450" h="128588">
                    <a:moveTo>
                      <a:pt x="0" y="14288"/>
                    </a:moveTo>
                    <a:lnTo>
                      <a:pt x="0" y="42862"/>
                    </a:lnTo>
                    <a:cubicBezTo>
                      <a:pt x="0" y="90207"/>
                      <a:pt x="38380" y="128588"/>
                      <a:pt x="85725" y="128588"/>
                    </a:cubicBezTo>
                    <a:cubicBezTo>
                      <a:pt x="133070" y="128588"/>
                      <a:pt x="171450" y="90207"/>
                      <a:pt x="171450" y="42862"/>
                    </a:cubicBezTo>
                    <a:lnTo>
                      <a:pt x="171450" y="14288"/>
                    </a:lnTo>
                    <a:cubicBezTo>
                      <a:pt x="171450" y="6397"/>
                      <a:pt x="165053" y="0"/>
                      <a:pt x="157162" y="0"/>
                    </a:cubicBezTo>
                    <a:lnTo>
                      <a:pt x="14288" y="0"/>
                    </a:lnTo>
                    <a:cubicBezTo>
                      <a:pt x="6397" y="0"/>
                      <a:pt x="0" y="6397"/>
                      <a:pt x="0" y="14288"/>
                    </a:cubicBezTo>
                  </a:path>
                </a:pathLst>
              </a:custGeom>
              <a:noFill/>
              <a:ln w="28440">
                <a:solidFill>
                  <a:schemeClr val="accent1"/>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grpSp>
        <p:sp>
          <p:nvSpPr>
            <p:cNvPr id="235" name="TextBox 52"/>
            <p:cNvSpPr/>
            <p:nvPr/>
          </p:nvSpPr>
          <p:spPr>
            <a:xfrm>
              <a:off x="7281360" y="5067360"/>
              <a:ext cx="4019760" cy="343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2250" spc="-1" strike="noStrike">
                  <a:solidFill>
                    <a:schemeClr val="dk1"/>
                  </a:solidFill>
                  <a:latin typeface="Aptos"/>
                  <a:ea typeface="Microsoft YaHei"/>
                </a:rPr>
                <a:t>PBE0 calculation in progress</a:t>
              </a:r>
              <a:endParaRPr b="0" lang="en-GB" sz="2250" spc="-1" strike="noStrike">
                <a:solidFill>
                  <a:srgbClr val="000000"/>
                </a:solidFill>
                <a:latin typeface="Arial"/>
              </a:endParaRPr>
            </a:p>
          </p:txBody>
        </p:sp>
      </p:grpSp>
      <p:grpSp>
        <p:nvGrpSpPr>
          <p:cNvPr id="236" name="credits"/>
          <p:cNvGrpSpPr/>
          <p:nvPr/>
        </p:nvGrpSpPr>
        <p:grpSpPr>
          <a:xfrm>
            <a:off x="762120" y="5734080"/>
            <a:ext cx="9334080" cy="706320"/>
            <a:chOff x="762120" y="5734080"/>
            <a:chExt cx="9334080" cy="706320"/>
          </a:xfrm>
        </p:grpSpPr>
        <p:sp>
          <p:nvSpPr>
            <p:cNvPr id="237" name="Line 54"/>
            <p:cNvSpPr/>
            <p:nvPr/>
          </p:nvSpPr>
          <p:spPr>
            <a:xfrm>
              <a:off x="762120" y="5734080"/>
              <a:ext cx="9334080" cy="9000"/>
            </a:xfrm>
            <a:custGeom>
              <a:avLst/>
              <a:gdLst>
                <a:gd name="textAreaLeft" fmla="*/ 0 w 9334080"/>
                <a:gd name="textAreaRight" fmla="*/ 9334440 w 9334080"/>
                <a:gd name="textAreaTop" fmla="*/ 0 h 9000"/>
                <a:gd name="textAreaBottom" fmla="*/ 9360 h 9000"/>
              </a:gdLst>
              <a:ahLst/>
              <a:rect l="textAreaLeft" t="textAreaTop" r="textAreaRight" b="textAreaBottom"/>
              <a:pathLst>
                <a:path w="9334500" h="9525">
                  <a:moveTo>
                    <a:pt x="0" y="0"/>
                  </a:moveTo>
                  <a:lnTo>
                    <a:pt x="9334500" y="0"/>
                  </a:lnTo>
                </a:path>
              </a:pathLst>
            </a:custGeom>
            <a:noFill/>
            <a:ln w="19080">
              <a:solidFill>
                <a:schemeClr val="accent6"/>
              </a:solidFill>
              <a:round/>
            </a:ln>
          </p:spPr>
          <p:style>
            <a:lnRef idx="0"/>
            <a:fillRef idx="0"/>
            <a:effectRef idx="0"/>
            <a:fontRef idx="minor"/>
          </p:style>
          <p:txBody>
            <a:bodyPr lIns="90000" rIns="90000" tIns="-35640" bIns="-35640" anchor="t">
              <a:noAutofit/>
            </a:bodyPr>
            <a:p>
              <a:endParaRPr b="0" lang="en-GB" sz="1800" spc="-1" strike="noStrike">
                <a:solidFill>
                  <a:srgbClr val="000000"/>
                </a:solidFill>
                <a:latin typeface="Arial"/>
              </a:endParaRPr>
            </a:p>
          </p:txBody>
        </p:sp>
        <p:sp>
          <p:nvSpPr>
            <p:cNvPr id="238" name="Freeform 55"/>
            <p:cNvSpPr/>
            <p:nvPr/>
          </p:nvSpPr>
          <p:spPr>
            <a:xfrm>
              <a:off x="762120" y="5851800"/>
              <a:ext cx="285480" cy="279360"/>
            </a:xfrm>
            <a:custGeom>
              <a:avLst/>
              <a:gdLst>
                <a:gd name="textAreaLeft" fmla="*/ 0 w 285480"/>
                <a:gd name="textAreaRight" fmla="*/ 285840 w 285480"/>
                <a:gd name="textAreaTop" fmla="*/ 0 h 279360"/>
                <a:gd name="textAreaBottom" fmla="*/ 279720 h 279360"/>
              </a:gdLst>
              <a:ahLst/>
              <a:rect l="textAreaLeft" t="textAreaTop" r="textAreaRight" b="textAreaBottom"/>
              <a:pathLst>
                <a:path w="285750" h="279773">
                  <a:moveTo>
                    <a:pt x="142875" y="0"/>
                  </a:moveTo>
                  <a:cubicBezTo>
                    <a:pt x="63937" y="0"/>
                    <a:pt x="0" y="63972"/>
                    <a:pt x="0" y="142875"/>
                  </a:cubicBezTo>
                  <a:cubicBezTo>
                    <a:pt x="0" y="206014"/>
                    <a:pt x="40934" y="259556"/>
                    <a:pt x="97691" y="278428"/>
                  </a:cubicBezTo>
                  <a:cubicBezTo>
                    <a:pt x="104835" y="279773"/>
                    <a:pt x="107454" y="275356"/>
                    <a:pt x="107454" y="271558"/>
                  </a:cubicBezTo>
                  <a:cubicBezTo>
                    <a:pt x="107454" y="268164"/>
                    <a:pt x="107335" y="259175"/>
                    <a:pt x="107275" y="247269"/>
                  </a:cubicBezTo>
                  <a:cubicBezTo>
                    <a:pt x="67532" y="255889"/>
                    <a:pt x="59150" y="228100"/>
                    <a:pt x="59150" y="228100"/>
                  </a:cubicBezTo>
                  <a:cubicBezTo>
                    <a:pt x="52649" y="211610"/>
                    <a:pt x="43255" y="207204"/>
                    <a:pt x="43255" y="207204"/>
                  </a:cubicBezTo>
                  <a:cubicBezTo>
                    <a:pt x="30313" y="198346"/>
                    <a:pt x="44256" y="198525"/>
                    <a:pt x="44256" y="198525"/>
                  </a:cubicBezTo>
                  <a:cubicBezTo>
                    <a:pt x="58603" y="199525"/>
                    <a:pt x="66139" y="213241"/>
                    <a:pt x="66139" y="213241"/>
                  </a:cubicBezTo>
                  <a:cubicBezTo>
                    <a:pt x="78879" y="235089"/>
                    <a:pt x="99584" y="228779"/>
                    <a:pt x="107752" y="225123"/>
                  </a:cubicBezTo>
                  <a:cubicBezTo>
                    <a:pt x="109037" y="215884"/>
                    <a:pt x="112716" y="209586"/>
                    <a:pt x="116800" y="206014"/>
                  </a:cubicBezTo>
                  <a:cubicBezTo>
                    <a:pt x="85070" y="202442"/>
                    <a:pt x="51721" y="190155"/>
                    <a:pt x="51721" y="135410"/>
                  </a:cubicBezTo>
                  <a:cubicBezTo>
                    <a:pt x="51721" y="119813"/>
                    <a:pt x="57257" y="107073"/>
                    <a:pt x="66425" y="97072"/>
                  </a:cubicBezTo>
                  <a:cubicBezTo>
                    <a:pt x="64818" y="93464"/>
                    <a:pt x="59996" y="78938"/>
                    <a:pt x="67675" y="59257"/>
                  </a:cubicBezTo>
                  <a:cubicBezTo>
                    <a:pt x="67675" y="59257"/>
                    <a:pt x="79641" y="55424"/>
                    <a:pt x="106966" y="73902"/>
                  </a:cubicBezTo>
                  <a:cubicBezTo>
                    <a:pt x="118396" y="70723"/>
                    <a:pt x="130540" y="69151"/>
                    <a:pt x="142685" y="69080"/>
                  </a:cubicBezTo>
                  <a:cubicBezTo>
                    <a:pt x="154829" y="69151"/>
                    <a:pt x="166973" y="70723"/>
                    <a:pt x="178403" y="73902"/>
                  </a:cubicBezTo>
                  <a:cubicBezTo>
                    <a:pt x="205550" y="55424"/>
                    <a:pt x="217515" y="59257"/>
                    <a:pt x="217515" y="59257"/>
                  </a:cubicBezTo>
                  <a:cubicBezTo>
                    <a:pt x="225195" y="78938"/>
                    <a:pt x="220373" y="93464"/>
                    <a:pt x="218944" y="97072"/>
                  </a:cubicBezTo>
                  <a:cubicBezTo>
                    <a:pt x="228052" y="107073"/>
                    <a:pt x="233589" y="119813"/>
                    <a:pt x="233589" y="135410"/>
                  </a:cubicBezTo>
                  <a:cubicBezTo>
                    <a:pt x="233589" y="190298"/>
                    <a:pt x="200192" y="202382"/>
                    <a:pt x="168402" y="205895"/>
                  </a:cubicBezTo>
                  <a:cubicBezTo>
                    <a:pt x="173403" y="210181"/>
                    <a:pt x="178046" y="218944"/>
                    <a:pt x="178046" y="232327"/>
                  </a:cubicBezTo>
                  <a:cubicBezTo>
                    <a:pt x="178046" y="251448"/>
                    <a:pt x="177867" y="266807"/>
                    <a:pt x="177867" y="271451"/>
                  </a:cubicBezTo>
                  <a:cubicBezTo>
                    <a:pt x="177867" y="275201"/>
                    <a:pt x="180368" y="279666"/>
                    <a:pt x="187690" y="278237"/>
                  </a:cubicBezTo>
                  <a:cubicBezTo>
                    <a:pt x="244852" y="259497"/>
                    <a:pt x="285750" y="205919"/>
                    <a:pt x="285750" y="142875"/>
                  </a:cubicBezTo>
                  <a:cubicBezTo>
                    <a:pt x="285750" y="63972"/>
                    <a:pt x="221778" y="0"/>
                    <a:pt x="142875" y="0"/>
                  </a:cubicBezTo>
                </a:path>
              </a:pathLst>
            </a:custGeom>
            <a:solidFill>
              <a:schemeClr val="accent1"/>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39" name="TextBox 56"/>
            <p:cNvSpPr/>
            <p:nvPr/>
          </p:nvSpPr>
          <p:spPr>
            <a:xfrm>
              <a:off x="1080360" y="5861160"/>
              <a:ext cx="509148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GB" sz="1800" spc="-1" strike="noStrike" u="sng">
                  <a:solidFill>
                    <a:schemeClr val="dk1"/>
                  </a:solidFill>
                  <a:uFillTx/>
                  <a:latin typeface="Consolas"/>
                  <a:ea typeface="Consolas"/>
                  <a:hlinkClick r:id="rId1"/>
                </a:rPr>
                <a:t>github.com/BigDFT-group/capsule-maker</a:t>
              </a:r>
              <a:endParaRPr b="0" lang="en-GB" sz="1800" spc="-1" strike="noStrike">
                <a:solidFill>
                  <a:srgbClr val="000000"/>
                </a:solidFill>
                <a:latin typeface="Arial"/>
              </a:endParaRPr>
            </a:p>
          </p:txBody>
        </p:sp>
        <p:sp>
          <p:nvSpPr>
            <p:cNvPr id="240" name="TextBox 57"/>
            <p:cNvSpPr/>
            <p:nvPr/>
          </p:nvSpPr>
          <p:spPr>
            <a:xfrm>
              <a:off x="1178640" y="6165720"/>
              <a:ext cx="7913520" cy="274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GB" sz="1800" spc="-1" strike="noStrike">
                  <a:solidFill>
                    <a:schemeClr val="dk1"/>
                  </a:solidFill>
                  <a:latin typeface="Aptos"/>
                  <a:ea typeface="Microsoft YaHei"/>
                </a:rPr>
                <a:t>Giuseppe Fisicaro · Tengxiang Li · Louis Beal · Yoann Curé · Luigi Genovese</a:t>
              </a:r>
              <a:endParaRPr b="0" lang="en-GB" sz="1800" spc="-1" strike="noStrike">
                <a:solidFill>
                  <a:srgbClr val="000000"/>
                </a:solidFill>
                <a:latin typeface="Arial"/>
              </a:endParaRPr>
            </a:p>
          </p:txBody>
        </p:sp>
      </p:grpSp>
    </p:spTree>
  </p:cSld>
  <mc:AlternateContent>
    <mc:Choice Requires="p14">
      <p:transition p14:dur="400">
        <p:fade/>
      </p:transition>
    </mc:Choice>
    <mc:Fallback>
      <p:transition>
        <p:fade/>
      </p:transition>
    </mc:Fallback>
  </mc:AlternateContent>
  <p:timing>
    <p:tnLst>
      <p:par>
        <p:cTn id="40" dur="indefinite" restart="never" nodeType="tmRoot">
          <p:childTnLst>
            <p:seq>
              <p:cTn id="41" dur="indefinite" nodeType="mainSeq">
                <p:childTnLst>
                  <p:par>
                    <p:cTn id="42" fill="hold">
                      <p:stCondLst>
                        <p:cond delay="indefinite"/>
                      </p:stCondLst>
                      <p:childTnLst>
                        <p:par>
                          <p:cTn id="43" fill="hold">
                            <p:stCondLst>
                              <p:cond delay="0"/>
                            </p:stCondLst>
                            <p:childTnLst>
                              <p:par>
                                <p:cTn id="44" nodeType="clickEffect" fill="hold" presetClass="entr" presetID="10">
                                  <p:stCondLst>
                                    <p:cond delay="0"/>
                                  </p:stCondLst>
                                  <p:childTnLst>
                                    <p:set>
                                      <p:cBhvr>
                                        <p:cTn id="45" dur="1" fill="hold">
                                          <p:stCondLst>
                                            <p:cond delay="0"/>
                                          </p:stCondLst>
                                        </p:cTn>
                                        <p:tgtEl>
                                          <p:spTgt spid="228"/>
                                        </p:tgtEl>
                                        <p:attrNameLst>
                                          <p:attrName>style.visibility</p:attrName>
                                        </p:attrNameLst>
                                      </p:cBhvr>
                                      <p:to>
                                        <p:strVal val="visible"/>
                                      </p:to>
                                    </p:set>
                                    <p:animEffect filter="fade" transition="in">
                                      <p:cBhvr additive="repl">
                                        <p:cTn id="46" dur="500"/>
                                        <p:tgtEl>
                                          <p:spTgt spid="228"/>
                                        </p:tgtEl>
                                      </p:cBhvr>
                                    </p:animEffec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0">
                                  <p:stCondLst>
                                    <p:cond delay="0"/>
                                  </p:stCondLst>
                                  <p:childTnLst>
                                    <p:set>
                                      <p:cBhvr>
                                        <p:cTn id="50" dur="1" fill="hold">
                                          <p:stCondLst>
                                            <p:cond delay="0"/>
                                          </p:stCondLst>
                                        </p:cTn>
                                        <p:tgtEl>
                                          <p:spTgt spid="236"/>
                                        </p:tgtEl>
                                        <p:attrNameLst>
                                          <p:attrName>style.visibility</p:attrName>
                                        </p:attrNameLst>
                                      </p:cBhvr>
                                      <p:to>
                                        <p:strVal val="visible"/>
                                      </p:to>
                                    </p:set>
                                    <p:animEffect filter="fade" transition="in">
                                      <p:cBhvr additive="repl">
                                        <p:cTn id="51" dur="5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apsule_maker_video">
  <a:themeElements>
    <a:clrScheme name="capsule_maker_video">
      <a:dk1>
        <a:srgbClr val="1b2a4a"/>
      </a:dk1>
      <a:lt1>
        <a:srgbClr val="f8f6f1"/>
      </a:lt1>
      <a:dk2>
        <a:srgbClr val="1f497d"/>
      </a:dk2>
      <a:lt2>
        <a:srgbClr val="efece4"/>
      </a:lt2>
      <a:accent1>
        <a:srgbClr val="1b2a4a"/>
      </a:accent1>
      <a:accent2>
        <a:srgbClr val="c8902e"/>
      </a:accent2>
      <a:accent3>
        <a:srgbClr val="8aa2bf"/>
      </a:accent3>
      <a:accent4>
        <a:srgbClr val="1b2a4a"/>
      </a:accent4>
      <a:accent5>
        <a:srgbClr val="4a5874"/>
      </a:accent5>
      <a:accent6>
        <a:srgbClr val="c9c3b6"/>
      </a:accent6>
      <a:hlink>
        <a:srgbClr val="c8902e"/>
      </a:hlink>
      <a:folHlink>
        <a:srgbClr val="8aa2b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34</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2026-10-22T13:37:25Z</dcterms:created>
  <dc:creator/>
  <dc:description/>
  <dc:language>en-GB</dc:language>
  <cp:lastModifiedBy/>
  <dcterms:modified xsi:type="dcterms:W3CDTF">2026-10-22T17:12:59Z</dcterms:modified>
  <cp:revision>21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(16:9)</vt:lpwstr>
  </property>
  <property fmtid="{D5CDD505-2E9C-101B-9397-08002B2CF9AE}" pid="3" name="Slides">
    <vt:r8>4</vt:r8>
  </property>
</Properties>
</file>